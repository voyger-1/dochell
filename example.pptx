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2"/>
  </p:notesMasterIdLst>
  <p:sldIdLst>
    <p:sldId id="299" r:id="rId5"/>
    <p:sldId id="438" r:id="rId6"/>
    <p:sldId id="268" r:id="rId7"/>
    <p:sldId id="916" r:id="rId8"/>
    <p:sldId id="917" r:id="rId9"/>
    <p:sldId id="919" r:id="rId10"/>
    <p:sldId id="487" r:id="rId11"/>
    <p:sldId id="918" r:id="rId12"/>
    <p:sldId id="915" r:id="rId13"/>
    <p:sldId id="407" r:id="rId14"/>
    <p:sldId id="374" r:id="rId15"/>
    <p:sldId id="409" r:id="rId16"/>
    <p:sldId id="488" r:id="rId17"/>
    <p:sldId id="920" r:id="rId18"/>
    <p:sldId id="921" r:id="rId19"/>
    <p:sldId id="477" r:id="rId20"/>
    <p:sldId id="534" r:id="rId21"/>
    <p:sldId id="922" r:id="rId22"/>
    <p:sldId id="923" r:id="rId23"/>
    <p:sldId id="924" r:id="rId24"/>
    <p:sldId id="925" r:id="rId25"/>
    <p:sldId id="929" r:id="rId26"/>
    <p:sldId id="931" r:id="rId27"/>
    <p:sldId id="930" r:id="rId28"/>
    <p:sldId id="932" r:id="rId29"/>
    <p:sldId id="933" r:id="rId30"/>
    <p:sldId id="934" r:id="rId31"/>
    <p:sldId id="926" r:id="rId32"/>
    <p:sldId id="927" r:id="rId33"/>
    <p:sldId id="928" r:id="rId34"/>
    <p:sldId id="489" r:id="rId35"/>
    <p:sldId id="541" r:id="rId36"/>
    <p:sldId id="547" r:id="rId37"/>
    <p:sldId id="544" r:id="rId38"/>
    <p:sldId id="545" r:id="rId39"/>
    <p:sldId id="546" r:id="rId40"/>
    <p:sldId id="535" r:id="rId41"/>
    <p:sldId id="892" r:id="rId42"/>
    <p:sldId id="537" r:id="rId43"/>
    <p:sldId id="903" r:id="rId44"/>
    <p:sldId id="935" r:id="rId45"/>
    <p:sldId id="936" r:id="rId46"/>
    <p:sldId id="937" r:id="rId47"/>
    <p:sldId id="938" r:id="rId48"/>
    <p:sldId id="939" r:id="rId49"/>
    <p:sldId id="940" r:id="rId50"/>
    <p:sldId id="469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1" userDrawn="1">
          <p15:clr>
            <a:srgbClr val="A4A3A4"/>
          </p15:clr>
        </p15:guide>
        <p15:guide id="2" pos="2502" userDrawn="1">
          <p15:clr>
            <a:srgbClr val="A4A3A4"/>
          </p15:clr>
        </p15:guide>
        <p15:guide id="3" orient="horz" pos="1026" userDrawn="1">
          <p15:clr>
            <a:srgbClr val="A4A3A4"/>
          </p15:clr>
        </p15:guide>
        <p15:guide id="4" pos="73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7E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E73215-C637-824D-3ADF-4ADFE961CDC0}" v="29" dt="2025-08-26T07:51:41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731"/>
        <p:guide pos="2502"/>
        <p:guide orient="horz" pos="1026"/>
        <p:guide pos="73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5/10/relationships/revisionInfo" Target="revisionInfo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5D12CC-892C-43BE-871D-A55D1F1DD8A2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DCBDDC-FD75-47E4-8D93-81DAF00F6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57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B3F3-9723-46F9-B004-E3C41E7B741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862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48956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90487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rmal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1848A59-C750-4412-9057-C5418C2BC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4330" y="1160463"/>
            <a:ext cx="4295839" cy="469916"/>
          </a:xfrm>
          <a:prstGeom prst="roundRect">
            <a:avLst/>
          </a:prstGeo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none" anchor="t" anchorCtr="0">
            <a:spAutoFit/>
          </a:bodyPr>
          <a:lstStyle>
            <a:lvl1pPr algn="ctr"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</a:lstStyle>
          <a:p>
            <a:r>
              <a:rPr lang="en-US" sz="2400" b="1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Heading / Sub-Heading</a:t>
            </a:r>
          </a:p>
        </p:txBody>
      </p:sp>
    </p:spTree>
    <p:extLst>
      <p:ext uri="{BB962C8B-B14F-4D97-AF65-F5344CB8AC3E}">
        <p14:creationId xmlns:p14="http://schemas.microsoft.com/office/powerpoint/2010/main" val="23768051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1848A59-C750-4412-9057-C5418C2BC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4330" y="1160463"/>
            <a:ext cx="4295839" cy="469916"/>
          </a:xfrm>
          <a:prstGeom prst="roundRect">
            <a:avLst/>
          </a:prstGeo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none" anchor="t" anchorCtr="0">
            <a:spAutoFit/>
          </a:bodyPr>
          <a:lstStyle>
            <a:lvl1pPr algn="ctr"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</a:lstStyle>
          <a:p>
            <a:r>
              <a:rPr lang="en-US" sz="2400" b="1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Heading / Sub-Heading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D55A2D-476E-DA06-D68B-B97CAE16D1DA}"/>
              </a:ext>
            </a:extLst>
          </p:cNvPr>
          <p:cNvSpPr txBox="1">
            <a:spLocks/>
          </p:cNvSpPr>
          <p:nvPr userDrawn="1"/>
        </p:nvSpPr>
        <p:spPr>
          <a:xfrm>
            <a:off x="3971925" y="2065338"/>
            <a:ext cx="7740650" cy="439269"/>
          </a:xfrm>
          <a:prstGeom prst="roundRect">
            <a:avLst/>
          </a:prstGeo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</a:lstStyle>
          <a:p>
            <a:pPr algn="l"/>
            <a:r>
              <a:rPr lang="en-IN" sz="2200" b="0">
                <a:solidFill>
                  <a:schemeClr val="bg1"/>
                </a:solidFill>
                <a:latin typeface="+mn-lt"/>
              </a:rPr>
              <a:t>?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2FE95E0-945C-1C45-2157-B9FE08DE047A}"/>
              </a:ext>
            </a:extLst>
          </p:cNvPr>
          <p:cNvSpPr txBox="1">
            <a:spLocks/>
          </p:cNvSpPr>
          <p:nvPr userDrawn="1"/>
        </p:nvSpPr>
        <p:spPr>
          <a:xfrm>
            <a:off x="3971925" y="3194042"/>
            <a:ext cx="2876550" cy="439269"/>
          </a:xfrm>
          <a:prstGeom prst="roundRect">
            <a:avLst/>
          </a:prstGeo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</a:lstStyle>
          <a:p>
            <a:pPr algn="l"/>
            <a:r>
              <a:rPr lang="en-IN" sz="2200" b="0">
                <a:solidFill>
                  <a:schemeClr val="bg1"/>
                </a:solidFill>
                <a:latin typeface="+mn-lt"/>
              </a:rPr>
              <a:t>(a)  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EAAAE7B-07D3-FA45-7E62-971359B17230}"/>
              </a:ext>
            </a:extLst>
          </p:cNvPr>
          <p:cNvSpPr txBox="1">
            <a:spLocks/>
          </p:cNvSpPr>
          <p:nvPr userDrawn="1"/>
        </p:nvSpPr>
        <p:spPr>
          <a:xfrm>
            <a:off x="3971925" y="4241792"/>
            <a:ext cx="2876550" cy="439269"/>
          </a:xfrm>
          <a:prstGeom prst="roundRect">
            <a:avLst/>
          </a:prstGeo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</a:lstStyle>
          <a:p>
            <a:pPr algn="l"/>
            <a:r>
              <a:rPr lang="en-IN" sz="2200" b="0">
                <a:solidFill>
                  <a:schemeClr val="bg1"/>
                </a:solidFill>
                <a:latin typeface="+mn-lt"/>
              </a:rPr>
              <a:t>(c)  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7BEB233-CAB4-37F9-43F9-3ECB0F75B0B2}"/>
              </a:ext>
            </a:extLst>
          </p:cNvPr>
          <p:cNvSpPr txBox="1">
            <a:spLocks/>
          </p:cNvSpPr>
          <p:nvPr userDrawn="1"/>
        </p:nvSpPr>
        <p:spPr>
          <a:xfrm>
            <a:off x="8836025" y="3194042"/>
            <a:ext cx="2876550" cy="439269"/>
          </a:xfrm>
          <a:prstGeom prst="roundRect">
            <a:avLst/>
          </a:prstGeo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</a:lstStyle>
          <a:p>
            <a:pPr algn="l"/>
            <a:r>
              <a:rPr lang="en-IN" sz="2200" b="0">
                <a:solidFill>
                  <a:schemeClr val="bg1"/>
                </a:solidFill>
                <a:latin typeface="+mn-lt"/>
              </a:rPr>
              <a:t>(b)   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947BC19-FE67-37CA-2814-EF347FD65F06}"/>
              </a:ext>
            </a:extLst>
          </p:cNvPr>
          <p:cNvSpPr txBox="1">
            <a:spLocks/>
          </p:cNvSpPr>
          <p:nvPr userDrawn="1"/>
        </p:nvSpPr>
        <p:spPr>
          <a:xfrm>
            <a:off x="8836025" y="4241792"/>
            <a:ext cx="2876550" cy="439269"/>
          </a:xfrm>
          <a:prstGeom prst="roundRect">
            <a:avLst/>
          </a:prstGeo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</a:lstStyle>
          <a:p>
            <a:pPr algn="l"/>
            <a:r>
              <a:rPr lang="en-IN" sz="2200" b="0">
                <a:solidFill>
                  <a:schemeClr val="bg1"/>
                </a:solidFill>
                <a:latin typeface="+mn-lt"/>
              </a:rPr>
              <a:t>(d)    </a:t>
            </a:r>
          </a:p>
        </p:txBody>
      </p:sp>
    </p:spTree>
    <p:extLst>
      <p:ext uri="{BB962C8B-B14F-4D97-AF65-F5344CB8AC3E}">
        <p14:creationId xmlns:p14="http://schemas.microsoft.com/office/powerpoint/2010/main" val="24383495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rmal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E275D90-08E1-4C54-A207-B5FD0004E2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90000" y="621000"/>
            <a:ext cx="7722000" cy="469916"/>
          </a:xfrm>
          <a:prstGeom prst="roundRect">
            <a:avLst/>
          </a:prstGeom>
          <a:solidFill>
            <a:srgbClr val="FFFFFF">
              <a:alpha val="10196"/>
            </a:srgbClr>
          </a:solidFill>
        </p:spPr>
        <p:txBody>
          <a:bodyPr wrap="square" anchor="t" anchorCtr="0">
            <a:spAutoFit/>
          </a:bodyPr>
          <a:lstStyle>
            <a:lvl1pPr algn="ctr"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</a:lstStyle>
          <a:p>
            <a:r>
              <a:rPr lang="en-US" sz="2400" b="1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Heading / Sub-Heading</a:t>
            </a:r>
          </a:p>
        </p:txBody>
      </p:sp>
    </p:spTree>
    <p:extLst>
      <p:ext uri="{BB962C8B-B14F-4D97-AF65-F5344CB8AC3E}">
        <p14:creationId xmlns:p14="http://schemas.microsoft.com/office/powerpoint/2010/main" val="315410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7685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NUL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0.png"/><Relationship Id="rId5" Type="http://schemas.openxmlformats.org/officeDocument/2006/relationships/image" Target="../media/image260.png"/><Relationship Id="rId4" Type="http://schemas.openxmlformats.org/officeDocument/2006/relationships/image" Target="../media/image2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2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0.png"/><Relationship Id="rId4" Type="http://schemas.openxmlformats.org/officeDocument/2006/relationships/image" Target="../media/image29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5293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E107738-728E-CFFF-63F1-3C5F2711A1AA}"/>
              </a:ext>
            </a:extLst>
          </p:cNvPr>
          <p:cNvSpPr/>
          <p:nvPr/>
        </p:nvSpPr>
        <p:spPr>
          <a:xfrm>
            <a:off x="4684711" y="2365828"/>
            <a:ext cx="6487886" cy="1440544"/>
          </a:xfrm>
          <a:prstGeom prst="roundRect">
            <a:avLst/>
          </a:prstGeom>
          <a:solidFill>
            <a:srgbClr val="7C7E7E"/>
          </a:solidFill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Quadratic Equations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62F699-520E-E519-9F8A-247F423DEA54}"/>
              </a:ext>
            </a:extLst>
          </p:cNvPr>
          <p:cNvSpPr/>
          <p:nvPr/>
        </p:nvSpPr>
        <p:spPr>
          <a:xfrm>
            <a:off x="5576754" y="3908826"/>
            <a:ext cx="4703799" cy="442674"/>
          </a:xfrm>
          <a:prstGeom prst="roundRect">
            <a:avLst/>
          </a:prstGeom>
          <a:solidFill>
            <a:srgbClr val="7C7E7E"/>
          </a:solidFill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Graphs of Quadratic Equations</a:t>
            </a:r>
          </a:p>
        </p:txBody>
      </p:sp>
    </p:spTree>
    <p:extLst>
      <p:ext uri="{BB962C8B-B14F-4D97-AF65-F5344CB8AC3E}">
        <p14:creationId xmlns:p14="http://schemas.microsoft.com/office/powerpoint/2010/main" val="328474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515CBF39-9D74-43B8-AA0E-C6E7451C5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925" y="1160463"/>
            <a:ext cx="7722575" cy="469916"/>
          </a:xfrm>
          <a:solidFill>
            <a:srgbClr val="7C7E7E"/>
          </a:solidFill>
        </p:spPr>
        <p:txBody>
          <a:bodyPr/>
          <a:lstStyle/>
          <a:p>
            <a:pPr algn="ctr"/>
            <a:r>
              <a:rPr lang="en-IN" dirty="0"/>
              <a:t>Contents</a:t>
            </a:r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6D5E4408-1067-453D-AC3A-537757DD2C4A}"/>
              </a:ext>
            </a:extLst>
          </p:cNvPr>
          <p:cNvSpPr/>
          <p:nvPr/>
        </p:nvSpPr>
        <p:spPr>
          <a:xfrm>
            <a:off x="3971926" y="2121789"/>
            <a:ext cx="7722000" cy="1544479"/>
          </a:xfrm>
          <a:prstGeom prst="roundRect">
            <a:avLst>
              <a:gd name="adj" fmla="val 11906"/>
            </a:avLst>
          </a:prstGeom>
          <a:solidFill>
            <a:srgbClr val="7C7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/>
              <a:t>Roots using Graphical Method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/>
              <a:t>Maximum Value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/>
              <a:t>Minimum Value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/>
              <a:t>Condition for Common Roots</a:t>
            </a:r>
          </a:p>
        </p:txBody>
      </p:sp>
    </p:spTree>
    <p:extLst>
      <p:ext uri="{BB962C8B-B14F-4D97-AF65-F5344CB8AC3E}">
        <p14:creationId xmlns:p14="http://schemas.microsoft.com/office/powerpoint/2010/main" val="319549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5E84DA-DE6A-863D-6A6B-B71B30B84366}"/>
              </a:ext>
            </a:extLst>
          </p:cNvPr>
          <p:cNvSpPr txBox="1"/>
          <p:nvPr/>
        </p:nvSpPr>
        <p:spPr>
          <a:xfrm>
            <a:off x="3971939" y="5686425"/>
            <a:ext cx="7740649" cy="806648"/>
          </a:xfrm>
          <a:prstGeom prst="roundRect">
            <a:avLst>
              <a:gd name="adj" fmla="val 8402"/>
            </a:avLst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just"/>
            <a:r>
              <a:rPr lang="en-GB" sz="2200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geometric representation of Quadratic Equations 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is </a:t>
            </a:r>
            <a:r>
              <a:rPr kumimoji="0" lang="en-GB" sz="2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parabolic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in nature.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B60A52-FC0D-7096-BE3E-6703BD284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711" y="1160463"/>
            <a:ext cx="5631106" cy="837676"/>
          </a:xfr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/>
          <a:p>
            <a:r>
              <a:rPr lang="en-GB"/>
              <a:t>Geometrical Representation of </a:t>
            </a:r>
            <a:br>
              <a:rPr lang="en-GB"/>
            </a:br>
            <a:r>
              <a:rPr lang="en-GB"/>
              <a:t>Quadratic Equations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B753A9B-FA6B-96F9-5481-865FB6BAB72D}"/>
              </a:ext>
            </a:extLst>
          </p:cNvPr>
          <p:cNvCxnSpPr>
            <a:cxnSpLocks/>
          </p:cNvCxnSpPr>
          <p:nvPr/>
        </p:nvCxnSpPr>
        <p:spPr>
          <a:xfrm>
            <a:off x="7959131" y="2800350"/>
            <a:ext cx="0" cy="2628000"/>
          </a:xfrm>
          <a:prstGeom prst="line">
            <a:avLst/>
          </a:prstGeom>
          <a:ln w="28575">
            <a:solidFill>
              <a:schemeClr val="bg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5AE94-22F4-3848-5351-332AA5FCE8EB}"/>
              </a:ext>
            </a:extLst>
          </p:cNvPr>
          <p:cNvCxnSpPr>
            <a:cxnSpLocks/>
          </p:cNvCxnSpPr>
          <p:nvPr/>
        </p:nvCxnSpPr>
        <p:spPr>
          <a:xfrm rot="5400000">
            <a:off x="7959131" y="3034712"/>
            <a:ext cx="0" cy="3726263"/>
          </a:xfrm>
          <a:prstGeom prst="line">
            <a:avLst/>
          </a:prstGeom>
          <a:ln w="28575">
            <a:solidFill>
              <a:schemeClr val="bg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26F6749-7CF4-AB7D-FA0C-6B672B96CDF6}"/>
              </a:ext>
            </a:extLst>
          </p:cNvPr>
          <p:cNvSpPr/>
          <p:nvPr/>
        </p:nvSpPr>
        <p:spPr>
          <a:xfrm flipH="1" flipV="1">
            <a:off x="7324877" y="3184038"/>
            <a:ext cx="1788041" cy="1917189"/>
          </a:xfrm>
          <a:custGeom>
            <a:avLst/>
            <a:gdLst>
              <a:gd name="connsiteX0" fmla="*/ 0 w 704850"/>
              <a:gd name="connsiteY0" fmla="*/ 0 h 1423987"/>
              <a:gd name="connsiteX1" fmla="*/ 357188 w 704850"/>
              <a:gd name="connsiteY1" fmla="*/ 1423987 h 1423987"/>
              <a:gd name="connsiteX2" fmla="*/ 704850 w 704850"/>
              <a:gd name="connsiteY2" fmla="*/ 0 h 1423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4850" h="1423987">
                <a:moveTo>
                  <a:pt x="0" y="0"/>
                </a:moveTo>
                <a:cubicBezTo>
                  <a:pt x="119856" y="711993"/>
                  <a:pt x="239713" y="1423987"/>
                  <a:pt x="357188" y="1423987"/>
                </a:cubicBezTo>
                <a:cubicBezTo>
                  <a:pt x="474663" y="1423987"/>
                  <a:pt x="589756" y="711993"/>
                  <a:pt x="704850" y="0"/>
                </a:cubicBezTo>
              </a:path>
            </a:pathLst>
          </a:cu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 </a:t>
            </a:r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5E9CC6-35CC-2D78-7F2A-5B3A94B7CBF3}"/>
              </a:ext>
            </a:extLst>
          </p:cNvPr>
          <p:cNvSpPr/>
          <p:nvPr/>
        </p:nvSpPr>
        <p:spPr>
          <a:xfrm>
            <a:off x="7317427" y="4845286"/>
            <a:ext cx="136951" cy="13627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E0604A-355F-27B6-4F80-B0DD9E78C0D8}"/>
              </a:ext>
            </a:extLst>
          </p:cNvPr>
          <p:cNvSpPr/>
          <p:nvPr/>
        </p:nvSpPr>
        <p:spPr>
          <a:xfrm>
            <a:off x="8976234" y="4829708"/>
            <a:ext cx="136951" cy="13627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10CE09D-26B0-1604-B2D9-2935C693081B}"/>
              </a:ext>
            </a:extLst>
          </p:cNvPr>
          <p:cNvSpPr/>
          <p:nvPr/>
        </p:nvSpPr>
        <p:spPr>
          <a:xfrm>
            <a:off x="8181987" y="3105039"/>
            <a:ext cx="136951" cy="13627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710EFF-8B2B-3CDA-7A26-50341BCE83E5}"/>
              </a:ext>
            </a:extLst>
          </p:cNvPr>
          <p:cNvSpPr/>
          <p:nvPr/>
        </p:nvSpPr>
        <p:spPr>
          <a:xfrm>
            <a:off x="7890655" y="3287779"/>
            <a:ext cx="136951" cy="13627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3965FA-058C-FFF2-E714-AFD66536E624}"/>
              </a:ext>
            </a:extLst>
          </p:cNvPr>
          <p:cNvSpPr txBox="1"/>
          <p:nvPr/>
        </p:nvSpPr>
        <p:spPr>
          <a:xfrm>
            <a:off x="8027606" y="2633837"/>
            <a:ext cx="649849" cy="303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Vertex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8740AE-03D6-0C24-0490-0402CFF102A3}"/>
              </a:ext>
            </a:extLst>
          </p:cNvPr>
          <p:cNvSpPr txBox="1"/>
          <p:nvPr/>
        </p:nvSpPr>
        <p:spPr>
          <a:xfrm>
            <a:off x="6641715" y="3089014"/>
            <a:ext cx="1209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y-intercept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7D3050-9633-E253-6AEF-0AF04562BE3C}"/>
              </a:ext>
            </a:extLst>
          </p:cNvPr>
          <p:cNvSpPr txBox="1"/>
          <p:nvPr/>
        </p:nvSpPr>
        <p:spPr>
          <a:xfrm>
            <a:off x="8825289" y="5101226"/>
            <a:ext cx="678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Root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7C1128-B388-0795-1348-E2B827BFA6A3}"/>
              </a:ext>
            </a:extLst>
          </p:cNvPr>
          <p:cNvSpPr txBox="1"/>
          <p:nvPr/>
        </p:nvSpPr>
        <p:spPr>
          <a:xfrm>
            <a:off x="7063511" y="5049691"/>
            <a:ext cx="678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Root </a:t>
            </a:r>
          </a:p>
        </p:txBody>
      </p:sp>
    </p:spTree>
    <p:extLst>
      <p:ext uri="{BB962C8B-B14F-4D97-AF65-F5344CB8AC3E}">
        <p14:creationId xmlns:p14="http://schemas.microsoft.com/office/powerpoint/2010/main" val="3341494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60A52-FC0D-7096-BE3E-6703BD284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711" y="1160463"/>
            <a:ext cx="5631106" cy="837676"/>
          </a:xfr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/>
          <a:p>
            <a:r>
              <a:rPr lang="en-GB"/>
              <a:t>Geometrical Representation of </a:t>
            </a:r>
            <a:br>
              <a:rPr lang="en-GB"/>
            </a:br>
            <a:r>
              <a:rPr lang="en-GB"/>
              <a:t>Quadratic Equations</a:t>
            </a:r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3A4AE35-F10A-8A83-A71E-491368C61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400" y="2197765"/>
            <a:ext cx="2880000" cy="288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9898DEB-1ABA-F73D-4803-0FA7917BD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9588" y="2197765"/>
            <a:ext cx="2880000" cy="28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7F5BA0-EA04-ACA8-983D-D1B6CC62A863}"/>
                  </a:ext>
                </a:extLst>
              </p:cNvPr>
              <p:cNvSpPr txBox="1"/>
              <p:nvPr/>
            </p:nvSpPr>
            <p:spPr>
              <a:xfrm>
                <a:off x="6305290" y="5585319"/>
                <a:ext cx="98821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7F5BA0-EA04-ACA8-983D-D1B6CC62A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290" y="5585319"/>
                <a:ext cx="988219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1BE04D-D6CA-F138-91DD-E62DDA8DB3D7}"/>
                  </a:ext>
                </a:extLst>
              </p:cNvPr>
              <p:cNvSpPr txBox="1"/>
              <p:nvPr/>
            </p:nvSpPr>
            <p:spPr>
              <a:xfrm>
                <a:off x="9467590" y="5585318"/>
                <a:ext cx="98821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sz="28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1BE04D-D6CA-F138-91DD-E62DDA8DB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7590" y="5585318"/>
                <a:ext cx="988219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2549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5E97D-5BA5-A95D-CDD6-51CA5B5E5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D6EC8-3B30-6CBB-A5D0-F12BF7B5A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2678" y="926545"/>
            <a:ext cx="3399187" cy="469916"/>
          </a:xfr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/>
          <a:p>
            <a:r>
              <a:rPr lang="en-GB" dirty="0"/>
              <a:t>Roots using Graph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12">
                <a:extLst>
                  <a:ext uri="{FF2B5EF4-FFF2-40B4-BE49-F238E27FC236}">
                    <a16:creationId xmlns:a16="http://schemas.microsoft.com/office/drawing/2014/main" id="{75D45142-8E99-97F8-E628-D468A8561FAC}"/>
                  </a:ext>
                </a:extLst>
              </p:cNvPr>
              <p:cNvSpPr/>
              <p:nvPr/>
            </p:nvSpPr>
            <p:spPr>
              <a:xfrm>
                <a:off x="3596459" y="1526777"/>
                <a:ext cx="8494200" cy="5159216"/>
              </a:xfrm>
              <a:prstGeom prst="roundRect">
                <a:avLst>
                  <a:gd name="adj" fmla="val 11906"/>
                </a:avLst>
              </a:prstGeom>
              <a:solidFill>
                <a:srgbClr val="7C7E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200" dirty="0"/>
                  <a:t>The roots of a quadratic equation can be easily determined by its graph.</a:t>
                </a: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endParaRPr lang="en-US" sz="2200" dirty="0"/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200" dirty="0"/>
                  <a:t>The points where the graph cuts/touches the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𝑎𝑥𝑖𝑠</m:t>
                    </m:r>
                  </m:oMath>
                </a14:m>
                <a:r>
                  <a:rPr lang="en-US" sz="2200" dirty="0"/>
                  <a:t> i.e., the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00" dirty="0"/>
                  <a:t>intercepts, are the location of roots for the equation.</a:t>
                </a: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endParaRPr lang="en-US" sz="2200" dirty="0"/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200" dirty="0"/>
                  <a:t>If the graph cuts the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𝑎𝑥𝑖𝑠</m:t>
                    </m:r>
                  </m:oMath>
                </a14:m>
                <a:r>
                  <a:rPr lang="en-US" sz="2200" dirty="0"/>
                  <a:t> at two points then the equation has 2 real roots.</a:t>
                </a: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endParaRPr lang="en-US" sz="2200" dirty="0"/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200" dirty="0"/>
                  <a:t>If the graph touches the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𝑎𝑥𝑖𝑠</m:t>
                    </m:r>
                  </m:oMath>
                </a14:m>
                <a:r>
                  <a:rPr lang="en-US" sz="2200" dirty="0"/>
                  <a:t> at a point then the equation has only 1 real root (or it has two equal roots).</a:t>
                </a: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endParaRPr lang="en-US" sz="2200" dirty="0"/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200" dirty="0"/>
                  <a:t>If the graph does not touch/cut the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𝑎𝑥𝑖𝑠</m:t>
                    </m:r>
                  </m:oMath>
                </a14:m>
                <a:r>
                  <a:rPr lang="en-US" sz="2200" dirty="0"/>
                  <a:t> then there are no real roots for the equation.</a:t>
                </a:r>
              </a:p>
            </p:txBody>
          </p:sp>
        </mc:Choice>
        <mc:Fallback xmlns="">
          <p:sp>
            <p:nvSpPr>
              <p:cNvPr id="9" name="Rounded Rectangle 12">
                <a:extLst>
                  <a:ext uri="{FF2B5EF4-FFF2-40B4-BE49-F238E27FC236}">
                    <a16:creationId xmlns:a16="http://schemas.microsoft.com/office/drawing/2014/main" id="{75D45142-8E99-97F8-E628-D468A8561F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6459" y="1526777"/>
                <a:ext cx="8494200" cy="5159216"/>
              </a:xfrm>
              <a:prstGeom prst="roundRect">
                <a:avLst>
                  <a:gd name="adj" fmla="val 11906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6086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60A52-FC0D-7096-BE3E-6703BD284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2674" y="1160463"/>
            <a:ext cx="3399187" cy="469916"/>
          </a:xfr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/>
          <a:p>
            <a:r>
              <a:rPr lang="en-GB" dirty="0"/>
              <a:t>Roots using Graph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6">
                <a:extLst>
                  <a:ext uri="{FF2B5EF4-FFF2-40B4-BE49-F238E27FC236}">
                    <a16:creationId xmlns:a16="http://schemas.microsoft.com/office/drawing/2014/main" id="{07C86FFA-A826-F415-F9F9-B800822031C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008436" y="2108176"/>
              <a:ext cx="7740652" cy="4284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35163">
                      <a:extLst>
                        <a:ext uri="{9D8B030D-6E8A-4147-A177-3AD203B41FA5}">
                          <a16:colId xmlns:a16="http://schemas.microsoft.com/office/drawing/2014/main" val="1922813368"/>
                        </a:ext>
                      </a:extLst>
                    </a:gridCol>
                    <a:gridCol w="1935163">
                      <a:extLst>
                        <a:ext uri="{9D8B030D-6E8A-4147-A177-3AD203B41FA5}">
                          <a16:colId xmlns:a16="http://schemas.microsoft.com/office/drawing/2014/main" val="3908323620"/>
                        </a:ext>
                      </a:extLst>
                    </a:gridCol>
                    <a:gridCol w="1935163">
                      <a:extLst>
                        <a:ext uri="{9D8B030D-6E8A-4147-A177-3AD203B41FA5}">
                          <a16:colId xmlns:a16="http://schemas.microsoft.com/office/drawing/2014/main" val="507622909"/>
                        </a:ext>
                      </a:extLst>
                    </a:gridCol>
                    <a:gridCol w="1935163">
                      <a:extLst>
                        <a:ext uri="{9D8B030D-6E8A-4147-A177-3AD203B41FA5}">
                          <a16:colId xmlns:a16="http://schemas.microsoft.com/office/drawing/2014/main" val="4092140426"/>
                        </a:ext>
                      </a:extLst>
                    </a:gridCol>
                  </a:tblGrid>
                  <a:tr h="7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Characteristics of the Function</a:t>
                          </a:r>
                          <a:endParaRPr lang="en-IN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𝒂𝒄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𝒂𝒄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  <a:p>
                          <a:pPr algn="ctr"/>
                          <a:endParaRPr lang="en-IN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𝒂𝒄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  <a:p>
                          <a:pPr algn="ctr"/>
                          <a:endParaRPr lang="en-IN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24062600"/>
                      </a:ext>
                    </a:extLst>
                  </a:tr>
                  <a:tr h="1785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en-IN" sz="2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81123352"/>
                      </a:ext>
                    </a:extLst>
                  </a:tr>
                  <a:tr h="1785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oMath>
                            </m:oMathPara>
                          </a14:m>
                          <a:endParaRPr lang="en-IN" sz="2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158417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6">
                <a:extLst>
                  <a:ext uri="{FF2B5EF4-FFF2-40B4-BE49-F238E27FC236}">
                    <a16:creationId xmlns:a16="http://schemas.microsoft.com/office/drawing/2014/main" id="{07C86FFA-A826-F415-F9F9-B800822031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3877166"/>
                  </p:ext>
                </p:extLst>
              </p:nvPr>
            </p:nvGraphicFramePr>
            <p:xfrm>
              <a:off x="4008436" y="2108176"/>
              <a:ext cx="7740652" cy="4284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35163">
                      <a:extLst>
                        <a:ext uri="{9D8B030D-6E8A-4147-A177-3AD203B41FA5}">
                          <a16:colId xmlns:a16="http://schemas.microsoft.com/office/drawing/2014/main" val="1922813368"/>
                        </a:ext>
                      </a:extLst>
                    </a:gridCol>
                    <a:gridCol w="1935163">
                      <a:extLst>
                        <a:ext uri="{9D8B030D-6E8A-4147-A177-3AD203B41FA5}">
                          <a16:colId xmlns:a16="http://schemas.microsoft.com/office/drawing/2014/main" val="3908323620"/>
                        </a:ext>
                      </a:extLst>
                    </a:gridCol>
                    <a:gridCol w="1935163">
                      <a:extLst>
                        <a:ext uri="{9D8B030D-6E8A-4147-A177-3AD203B41FA5}">
                          <a16:colId xmlns:a16="http://schemas.microsoft.com/office/drawing/2014/main" val="507622909"/>
                        </a:ext>
                      </a:extLst>
                    </a:gridCol>
                    <a:gridCol w="1935163">
                      <a:extLst>
                        <a:ext uri="{9D8B030D-6E8A-4147-A177-3AD203B41FA5}">
                          <a16:colId xmlns:a16="http://schemas.microsoft.com/office/drawing/2014/main" val="4092140426"/>
                        </a:ext>
                      </a:extLst>
                    </a:gridCol>
                  </a:tblGrid>
                  <a:tr h="7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Characteristics of the Function</a:t>
                          </a:r>
                          <a:endParaRPr lang="en-IN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14" t="-4274" r="-200943" b="-503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46" t="-4274" r="-101577" b="-503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4274" r="-1258" b="-5034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4062600"/>
                      </a:ext>
                    </a:extLst>
                  </a:tr>
                  <a:tr h="1785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4" t="-41497" r="-300943" b="-1003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81123352"/>
                      </a:ext>
                    </a:extLst>
                  </a:tr>
                  <a:tr h="1785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4" t="-141980" r="-300943" b="-6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1584175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0DA58810-1D30-5B85-4084-E7317713F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267" y="4628176"/>
            <a:ext cx="1800000" cy="180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0868F62-005D-32A0-986A-0E2DFA67B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183" y="4628176"/>
            <a:ext cx="1728000" cy="1728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51890B4-C76F-05D9-7759-3044EFB6D8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0715" y="4700176"/>
            <a:ext cx="1728000" cy="1728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B813098-1BC5-6E72-815F-9828DFF658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2267" y="2852625"/>
            <a:ext cx="1620000" cy="16200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93AFDB5-0361-D92D-3A02-EDF4F08B71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163" y="2938582"/>
            <a:ext cx="1620000" cy="1620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3E7F408-D546-EAEE-FCDB-37EA641E26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8579" y="2938582"/>
            <a:ext cx="1511092" cy="1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640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77AB1017-89B8-0AFB-40A9-ED2473147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539" y="1160463"/>
            <a:ext cx="1763422" cy="469916"/>
          </a:xfr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/>
          <a:p>
            <a:r>
              <a:rPr lang="en-US"/>
              <a:t>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14DCB9-65E3-7C7F-F43A-04CAEE0CAB45}"/>
                  </a:ext>
                </a:extLst>
              </p:cNvPr>
              <p:cNvSpPr txBox="1"/>
              <p:nvPr/>
            </p:nvSpPr>
            <p:spPr>
              <a:xfrm>
                <a:off x="3971925" y="1955800"/>
                <a:ext cx="7740650" cy="1161574"/>
              </a:xfrm>
              <a:prstGeom prst="roundRect">
                <a:avLst>
                  <a:gd name="adj" fmla="val 8908"/>
                </a:avLst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/>
                  <a:t>If vertical axis is the y axis and horizontal axis is the x axis which of the following can be a graph for the quadratic equation 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−2=0</m:t>
                    </m:r>
                  </m:oMath>
                </a14:m>
                <a:r>
                  <a:rPr lang="en-US"/>
                  <a:t>? </a:t>
                </a:r>
                <a:endParaRPr kumimoji="0" lang="en-GB" sz="2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C14DCB9-65E3-7C7F-F43A-04CAEE0CA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925" y="1955800"/>
                <a:ext cx="7740650" cy="1161574"/>
              </a:xfrm>
              <a:prstGeom prst="roundRect">
                <a:avLst>
                  <a:gd name="adj" fmla="val 8908"/>
                </a:avLst>
              </a:prstGeom>
              <a:blipFill>
                <a:blip r:embed="rId2"/>
                <a:stretch>
                  <a:fillRect l="-392" r="-471" b="-61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F14D440-9874-BC5E-FB5D-DE65E6408D1D}"/>
              </a:ext>
            </a:extLst>
          </p:cNvPr>
          <p:cNvSpPr txBox="1"/>
          <p:nvPr/>
        </p:nvSpPr>
        <p:spPr>
          <a:xfrm>
            <a:off x="3971923" y="3429000"/>
            <a:ext cx="3600000" cy="1225868"/>
          </a:xfrm>
          <a:prstGeom prst="roundRect">
            <a:avLst/>
          </a:prstGeo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spAutoFit/>
          </a:bodyPr>
          <a:lstStyle>
            <a:defPPr>
              <a:defRPr lang="en-US"/>
            </a:defPPr>
            <a:lvl1pPr algn="just">
              <a:defRPr sz="2200">
                <a:solidFill>
                  <a:schemeClr val="bg1"/>
                </a:solidFill>
                <a:ea typeface="Verdana" panose="020B060403050404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533400" marR="0" lvl="0" indent="-5334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33400" algn="l"/>
              </a:tabLst>
              <a:defRPr/>
            </a:pPr>
            <a:r>
              <a:rPr kumimoji="0" lang="en-GB" sz="2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(a)</a:t>
            </a:r>
          </a:p>
          <a:p>
            <a:pPr marL="533400" marR="0" lvl="0" indent="-5334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33400" algn="l"/>
              </a:tabLst>
              <a:defRPr/>
            </a:pPr>
            <a:endParaRPr lang="en-GB">
              <a:solidFill>
                <a:prstClr val="white"/>
              </a:solidFill>
              <a:latin typeface="Calibri" panose="020F0502020204030204"/>
            </a:endParaRPr>
          </a:p>
          <a:p>
            <a:pPr marL="533400" marR="0" lvl="0" indent="-5334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33400" algn="l"/>
              </a:tabLst>
              <a:defRPr/>
            </a:pPr>
            <a:r>
              <a:rPr kumimoji="0" lang="en-GB" sz="2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26500C-5AED-42F6-C0EA-84E15D651176}"/>
              </a:ext>
            </a:extLst>
          </p:cNvPr>
          <p:cNvSpPr txBox="1"/>
          <p:nvPr/>
        </p:nvSpPr>
        <p:spPr>
          <a:xfrm>
            <a:off x="8149088" y="3429000"/>
            <a:ext cx="3600000" cy="1225868"/>
          </a:xfrm>
          <a:prstGeom prst="roundRect">
            <a:avLst/>
          </a:prstGeo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spAutoFit/>
          </a:bodyPr>
          <a:lstStyle>
            <a:defPPr>
              <a:defRPr lang="en-US"/>
            </a:defPPr>
            <a:lvl1pPr algn="just">
              <a:defRPr sz="2200">
                <a:solidFill>
                  <a:schemeClr val="bg1"/>
                </a:solidFill>
                <a:ea typeface="Verdana" panose="020B060403050404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533400" marR="0" lvl="0" indent="-5334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(b)	</a:t>
            </a:r>
          </a:p>
          <a:p>
            <a:pPr marL="533400" marR="0" lvl="0" indent="-5334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>
              <a:solidFill>
                <a:prstClr val="white"/>
              </a:solidFill>
              <a:latin typeface="Calibri" panose="020F0502020204030204"/>
            </a:endParaRPr>
          </a:p>
          <a:p>
            <a:pPr marL="533400" marR="0" lvl="0" indent="-5334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882F51-8877-C6EC-7EB1-966718B99E8D}"/>
              </a:ext>
            </a:extLst>
          </p:cNvPr>
          <p:cNvSpPr txBox="1"/>
          <p:nvPr/>
        </p:nvSpPr>
        <p:spPr>
          <a:xfrm>
            <a:off x="3969687" y="5135198"/>
            <a:ext cx="3600000" cy="1225868"/>
          </a:xfrm>
          <a:prstGeom prst="roundRect">
            <a:avLst/>
          </a:prstGeo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spAutoFit/>
          </a:bodyPr>
          <a:lstStyle>
            <a:defPPr>
              <a:defRPr lang="en-US"/>
            </a:defPPr>
            <a:lvl1pPr algn="just">
              <a:defRPr sz="2200">
                <a:solidFill>
                  <a:schemeClr val="bg1"/>
                </a:solidFill>
                <a:ea typeface="Verdana" panose="020B060403050404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533400" marR="0" lvl="0" indent="-5334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(c)</a:t>
            </a:r>
          </a:p>
          <a:p>
            <a:pPr marL="533400" marR="0" lvl="0" indent="-5334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>
              <a:solidFill>
                <a:prstClr val="white"/>
              </a:solidFill>
              <a:latin typeface="Calibri" panose="020F0502020204030204"/>
            </a:endParaRPr>
          </a:p>
          <a:p>
            <a:pPr marL="533400" marR="0" lvl="0" indent="-5334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791095-B525-009E-191D-3CE98053029F}"/>
              </a:ext>
            </a:extLst>
          </p:cNvPr>
          <p:cNvSpPr txBox="1"/>
          <p:nvPr/>
        </p:nvSpPr>
        <p:spPr>
          <a:xfrm>
            <a:off x="8149088" y="5135198"/>
            <a:ext cx="3600000" cy="1225868"/>
          </a:xfrm>
          <a:prstGeom prst="roundRect">
            <a:avLst/>
          </a:prstGeo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spAutoFit/>
          </a:bodyPr>
          <a:lstStyle>
            <a:defPPr>
              <a:defRPr lang="en-US"/>
            </a:defPPr>
            <a:lvl1pPr algn="just">
              <a:defRPr sz="2200">
                <a:solidFill>
                  <a:schemeClr val="bg1"/>
                </a:solidFill>
                <a:ea typeface="Verdana" panose="020B060403050404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533400" lvl="0" indent="-533400">
              <a:defRPr/>
            </a:pPr>
            <a:r>
              <a:rPr kumimoji="0" lang="en-GB" sz="2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(d)</a:t>
            </a:r>
          </a:p>
          <a:p>
            <a:pPr marL="533400" lvl="0" indent="-533400">
              <a:defRPr/>
            </a:pPr>
            <a:endParaRPr lang="en-GB">
              <a:solidFill>
                <a:prstClr val="white"/>
              </a:solidFill>
              <a:latin typeface="Calibri" panose="020F0502020204030204"/>
            </a:endParaRPr>
          </a:p>
          <a:p>
            <a:pPr marL="533400" lvl="0" indent="-533400">
              <a:defRPr/>
            </a:pPr>
            <a:r>
              <a:rPr kumimoji="0" lang="en-GB" sz="2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	</a:t>
            </a:r>
            <a:endParaRPr kumimoji="0" lang="en-GB" sz="22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0FE2C4-9C19-1E7D-FFB8-2DADB0AA2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687" y="3574868"/>
            <a:ext cx="1080000" cy="108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32F2CF-BB07-8922-3E52-09C2DB7D0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 flipV="1">
            <a:off x="9409088" y="3517786"/>
            <a:ext cx="1080000" cy="108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AEABA9-605E-D328-851A-F6F02E7BD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054470" y="5281066"/>
            <a:ext cx="1080000" cy="108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D30A17-12C7-517F-2B8E-A092B4A16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 flipH="1">
            <a:off x="9531220" y="5208132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436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60A52-FC0D-7096-BE3E-6703BD284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8643" y="1160463"/>
            <a:ext cx="5407250" cy="469916"/>
          </a:xfr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/>
          <a:p>
            <a:r>
              <a:rPr lang="en-GB" dirty="0"/>
              <a:t>Graph of a Quadratic Equation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DEB684-A42D-FD70-BEB3-37F36168E695}"/>
                  </a:ext>
                </a:extLst>
              </p:cNvPr>
              <p:cNvSpPr txBox="1"/>
              <p:nvPr/>
            </p:nvSpPr>
            <p:spPr>
              <a:xfrm>
                <a:off x="4971973" y="2360319"/>
                <a:ext cx="6746543" cy="43088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200" b="0" dirty="0">
                    <a:solidFill>
                      <a:schemeClr val="bg1"/>
                    </a:solidFill>
                  </a:rPr>
                  <a:t>Plot the graph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−5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+6=0</m:t>
                    </m:r>
                  </m:oMath>
                </a14:m>
                <a:endParaRPr lang="en-US" sz="2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DEB684-A42D-FD70-BEB3-37F36168E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973" y="2360319"/>
                <a:ext cx="6746543" cy="430887"/>
              </a:xfrm>
              <a:prstGeom prst="rect">
                <a:avLst/>
              </a:prstGeom>
              <a:blipFill>
                <a:blip r:embed="rId2"/>
                <a:stretch>
                  <a:fillRect l="-1175" t="-9859" b="-281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E084730-249B-D2FE-666E-F737C24CE467}"/>
              </a:ext>
            </a:extLst>
          </p:cNvPr>
          <p:cNvCxnSpPr/>
          <p:nvPr/>
        </p:nvCxnSpPr>
        <p:spPr>
          <a:xfrm>
            <a:off x="8361680" y="3429000"/>
            <a:ext cx="0" cy="3083560"/>
          </a:xfrm>
          <a:prstGeom prst="straightConnector1">
            <a:avLst/>
          </a:prstGeom>
          <a:ln w="190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21A6810-0822-31CA-C8E4-A23F5A2B7256}"/>
              </a:ext>
            </a:extLst>
          </p:cNvPr>
          <p:cNvCxnSpPr>
            <a:cxnSpLocks/>
          </p:cNvCxnSpPr>
          <p:nvPr/>
        </p:nvCxnSpPr>
        <p:spPr>
          <a:xfrm flipH="1">
            <a:off x="6558837" y="4775200"/>
            <a:ext cx="4064000" cy="0"/>
          </a:xfrm>
          <a:prstGeom prst="straightConnector1">
            <a:avLst/>
          </a:prstGeom>
          <a:ln w="190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890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9CCEE8A-FC00-708C-8624-D4090B78F4FF}"/>
              </a:ext>
            </a:extLst>
          </p:cNvPr>
          <p:cNvSpPr txBox="1">
            <a:spLocks/>
          </p:cNvSpPr>
          <p:nvPr/>
        </p:nvSpPr>
        <p:spPr>
          <a:xfrm>
            <a:off x="4486144" y="1160463"/>
            <a:ext cx="6712269" cy="83767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Relationship Between Signs of Roots </a:t>
            </a:r>
          </a:p>
          <a:p>
            <a:r>
              <a:rPr lang="en-IN" dirty="0"/>
              <a:t>and Coefficients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47356B-6A53-6CFB-C238-424A48E92719}"/>
                  </a:ext>
                </a:extLst>
              </p:cNvPr>
              <p:cNvSpPr txBox="1"/>
              <p:nvPr/>
            </p:nvSpPr>
            <p:spPr>
              <a:xfrm>
                <a:off x="4789093" y="2746399"/>
                <a:ext cx="6746543" cy="43088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=0; 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sz="22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47356B-6A53-6CFB-C238-424A48E92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093" y="2746399"/>
                <a:ext cx="6746543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2091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F6052-4ABC-D4F8-B526-3BB58CFBB5AF}"/>
              </a:ext>
            </a:extLst>
          </p:cNvPr>
          <p:cNvSpPr txBox="1">
            <a:spLocks/>
          </p:cNvSpPr>
          <p:nvPr/>
        </p:nvSpPr>
        <p:spPr>
          <a:xfrm>
            <a:off x="6589382" y="1160463"/>
            <a:ext cx="2505771" cy="46991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Sign of Roots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CB550F-EC75-7448-2B90-16F28F8FFB89}"/>
                  </a:ext>
                </a:extLst>
              </p:cNvPr>
              <p:cNvSpPr txBox="1"/>
              <p:nvPr/>
            </p:nvSpPr>
            <p:spPr>
              <a:xfrm>
                <a:off x="4987925" y="2491014"/>
                <a:ext cx="5944676" cy="481630"/>
              </a:xfrm>
              <a:prstGeom prst="roundRect">
                <a:avLst>
                  <a:gd name="adj" fmla="val 16433"/>
                </a:avLst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lvl="0" algn="l">
                  <a:defRPr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2</m:t>
                    </m:r>
                    <m:sSup>
                      <m:sSupPr>
                        <m:ctrlPr>
                          <a:rPr lang="en-US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−11</m:t>
                    </m:r>
                    <m:r>
                      <a:rPr lang="en-US" i="1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i="1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+12=0</m:t>
                    </m:r>
                  </m:oMath>
                </a14:m>
                <a:r>
                  <a:rPr lang="en-US" dirty="0">
                    <a:solidFill>
                      <a:prstClr val="white"/>
                    </a:solidFill>
                    <a:cs typeface="Arial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CB550F-EC75-7448-2B90-16F28F8FF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925" y="2491014"/>
                <a:ext cx="5944676" cy="481630"/>
              </a:xfrm>
              <a:prstGeom prst="roundRect">
                <a:avLst>
                  <a:gd name="adj" fmla="val 16433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4">
                    <a:lumMod val="50000"/>
                  </a:schemeClr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4481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5C2E5-D5C0-933A-1720-AD074BA9357D}"/>
              </a:ext>
            </a:extLst>
          </p:cNvPr>
          <p:cNvSpPr txBox="1">
            <a:spLocks/>
          </p:cNvSpPr>
          <p:nvPr/>
        </p:nvSpPr>
        <p:spPr>
          <a:xfrm>
            <a:off x="6960558" y="1160463"/>
            <a:ext cx="1763423" cy="46991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Question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D62528-A0E0-C8F8-C107-FFD60951A2EB}"/>
                  </a:ext>
                </a:extLst>
              </p:cNvPr>
              <p:cNvSpPr txBox="1"/>
              <p:nvPr/>
            </p:nvSpPr>
            <p:spPr>
              <a:xfrm>
                <a:off x="3971925" y="1955800"/>
                <a:ext cx="7740650" cy="468000"/>
              </a:xfrm>
              <a:prstGeom prst="roundRect">
                <a:avLst>
                  <a:gd name="adj" fmla="val 8908"/>
                </a:avLst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defRPr/>
                </a:pPr>
                <a:r>
                  <a:rPr lang="en-US" dirty="0">
                    <a:solidFill>
                      <a:prstClr val="white"/>
                    </a:solidFill>
                    <a:cs typeface="Arial" pitchFamily="34" charset="0"/>
                  </a:rPr>
                  <a:t>Find the signs of both roots for the equation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2</m:t>
                    </m:r>
                    <m:sSup>
                      <m:sSupPr>
                        <m:ctrlPr>
                          <a:rPr lang="en-US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r>
                      <a:rPr lang="en-US" i="1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𝑥</m:t>
                    </m:r>
                    <m:r>
                      <a:rPr lang="en-US" i="1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−15=0</m:t>
                    </m:r>
                  </m:oMath>
                </a14:m>
                <a:endParaRPr lang="en-US" dirty="0">
                  <a:solidFill>
                    <a:prstClr val="white"/>
                  </a:solidFill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D62528-A0E0-C8F8-C107-FFD60951A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925" y="1955800"/>
                <a:ext cx="7740650" cy="468000"/>
              </a:xfrm>
              <a:prstGeom prst="roundRect">
                <a:avLst>
                  <a:gd name="adj" fmla="val 8908"/>
                </a:avLst>
              </a:prstGeom>
              <a:blipFill>
                <a:blip r:embed="rId2"/>
                <a:stretch>
                  <a:fillRect l="-627" t="-2439" b="-158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0EBD76-1F29-7200-7600-84061A2CD3A9}"/>
                  </a:ext>
                </a:extLst>
              </p:cNvPr>
              <p:cNvSpPr txBox="1"/>
              <p:nvPr/>
            </p:nvSpPr>
            <p:spPr>
              <a:xfrm>
                <a:off x="3971923" y="3429000"/>
                <a:ext cx="3780000" cy="476726"/>
              </a:xfrm>
              <a:prstGeom prst="roundRect">
                <a:avLst/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533400" indent="-533400">
                  <a:tabLst>
                    <a:tab pos="533400" algn="l"/>
                  </a:tabLst>
                  <a:defRPr/>
                </a:pP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rPr>
                  <a:t>(a)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solidFill>
                          <a:prstClr val="white"/>
                        </a:solidFill>
                        <a:cs typeface="Times New Roman" panose="02020603050405020304" pitchFamily="18" charset="0"/>
                      </a:rPr>
                      <m:t>Both</m:t>
                    </m:r>
                    <m:r>
                      <m:rPr>
                        <m:nor/>
                      </m:rPr>
                      <a:rPr lang="en-US" dirty="0">
                        <a:solidFill>
                          <a:prstClr val="white"/>
                        </a:solidFill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>
                        <a:solidFill>
                          <a:prstClr val="white"/>
                        </a:solidFill>
                        <a:cs typeface="Times New Roman" panose="02020603050405020304" pitchFamily="18" charset="0"/>
                      </a:rPr>
                      <m:t>roots</m:t>
                    </m:r>
                    <m:r>
                      <m:rPr>
                        <m:nor/>
                      </m:rPr>
                      <a:rPr lang="en-US" dirty="0">
                        <a:solidFill>
                          <a:prstClr val="white"/>
                        </a:solidFill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>
                        <a:solidFill>
                          <a:prstClr val="white"/>
                        </a:solidFill>
                        <a:cs typeface="Times New Roman" panose="02020603050405020304" pitchFamily="18" charset="0"/>
                      </a:rPr>
                      <m:t>positive</m:t>
                    </m:r>
                  </m:oMath>
                </a14:m>
                <a:endParaRPr lang="en-US" dirty="0">
                  <a:solidFill>
                    <a:prstClr val="white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0EBD76-1F29-7200-7600-84061A2CD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923" y="3429000"/>
                <a:ext cx="3780000" cy="476726"/>
              </a:xfrm>
              <a:prstGeom prst="roundRect">
                <a:avLst/>
              </a:prstGeom>
              <a:blipFill>
                <a:blip r:embed="rId3"/>
                <a:stretch>
                  <a:fillRect l="-1120" b="-168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2233522-20F7-DD7D-F3E4-7EA17391B94F}"/>
                  </a:ext>
                </a:extLst>
              </p:cNvPr>
              <p:cNvSpPr txBox="1"/>
              <p:nvPr/>
            </p:nvSpPr>
            <p:spPr>
              <a:xfrm>
                <a:off x="8112575" y="3429000"/>
                <a:ext cx="3780000" cy="476726"/>
              </a:xfrm>
              <a:prstGeom prst="roundRect">
                <a:avLst/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533400" indent="-533400">
                  <a:defRPr/>
                </a:pP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rPr>
                  <a:t>(b)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solidFill>
                          <a:prstClr val="white"/>
                        </a:solidFill>
                        <a:cs typeface="Times New Roman" panose="02020603050405020304" pitchFamily="18" charset="0"/>
                      </a:rPr>
                      <m:t>Both</m:t>
                    </m:r>
                    <m:r>
                      <m:rPr>
                        <m:nor/>
                      </m:rPr>
                      <a:rPr lang="en-US" dirty="0">
                        <a:solidFill>
                          <a:prstClr val="white"/>
                        </a:solidFill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>
                        <a:solidFill>
                          <a:prstClr val="white"/>
                        </a:solidFill>
                        <a:cs typeface="Times New Roman" panose="02020603050405020304" pitchFamily="18" charset="0"/>
                      </a:rPr>
                      <m:t>roots</m:t>
                    </m:r>
                    <m:r>
                      <m:rPr>
                        <m:nor/>
                      </m:rPr>
                      <a:rPr lang="en-US" dirty="0">
                        <a:solidFill>
                          <a:prstClr val="white"/>
                        </a:solidFill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>
                        <a:solidFill>
                          <a:prstClr val="white"/>
                        </a:solidFill>
                        <a:cs typeface="Times New Roman" panose="02020603050405020304" pitchFamily="18" charset="0"/>
                      </a:rPr>
                      <m:t>negative</m:t>
                    </m:r>
                  </m:oMath>
                </a14:m>
                <a:endParaRPr lang="en-US" dirty="0">
                  <a:solidFill>
                    <a:prstClr val="white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2233522-20F7-DD7D-F3E4-7EA17391B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575" y="3429000"/>
                <a:ext cx="3780000" cy="476726"/>
              </a:xfrm>
              <a:prstGeom prst="roundRect">
                <a:avLst/>
              </a:prstGeom>
              <a:blipFill>
                <a:blip r:embed="rId4"/>
                <a:stretch>
                  <a:fillRect l="-960" b="-168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619E571-B6DC-19C4-179D-FA270B94272B}"/>
                  </a:ext>
                </a:extLst>
              </p:cNvPr>
              <p:cNvSpPr txBox="1"/>
              <p:nvPr/>
            </p:nvSpPr>
            <p:spPr>
              <a:xfrm>
                <a:off x="3971924" y="4433181"/>
                <a:ext cx="3780000" cy="476726"/>
              </a:xfrm>
              <a:prstGeom prst="roundRect">
                <a:avLst/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533400" lvl="0" indent="-533400">
                  <a:defRPr/>
                </a:pP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rPr>
                  <a:t>(c)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solidFill>
                          <a:prstClr val="white"/>
                        </a:solidFill>
                        <a:cs typeface="Times New Roman" panose="02020603050405020304" pitchFamily="18" charset="0"/>
                      </a:rPr>
                      <m:t>One</m:t>
                    </m:r>
                    <m:r>
                      <m:rPr>
                        <m:nor/>
                      </m:rPr>
                      <a:rPr lang="en-US" dirty="0">
                        <a:solidFill>
                          <a:prstClr val="white"/>
                        </a:solidFill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>
                        <a:solidFill>
                          <a:prstClr val="white"/>
                        </a:solidFill>
                        <a:cs typeface="Times New Roman" panose="02020603050405020304" pitchFamily="18" charset="0"/>
                      </a:rPr>
                      <m:t>positive</m:t>
                    </m:r>
                    <m:r>
                      <m:rPr>
                        <m:nor/>
                      </m:rPr>
                      <a:rPr lang="en-US" dirty="0">
                        <a:solidFill>
                          <a:prstClr val="white"/>
                        </a:solidFill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>
                        <a:solidFill>
                          <a:prstClr val="white"/>
                        </a:solidFill>
                        <a:cs typeface="Times New Roman" panose="02020603050405020304" pitchFamily="18" charset="0"/>
                      </a:rPr>
                      <m:t>one</m:t>
                    </m:r>
                    <m:r>
                      <m:rPr>
                        <m:nor/>
                      </m:rPr>
                      <a:rPr lang="en-US" dirty="0">
                        <a:solidFill>
                          <a:prstClr val="white"/>
                        </a:solidFill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>
                        <a:solidFill>
                          <a:prstClr val="white"/>
                        </a:solidFill>
                        <a:cs typeface="Times New Roman" panose="02020603050405020304" pitchFamily="18" charset="0"/>
                      </a:rPr>
                      <m:t>negative</m:t>
                    </m:r>
                  </m:oMath>
                </a14:m>
                <a:endParaRPr kumimoji="0" lang="en-GB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619E571-B6DC-19C4-179D-FA270B942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924" y="4433181"/>
                <a:ext cx="3780000" cy="476726"/>
              </a:xfrm>
              <a:prstGeom prst="roundRect">
                <a:avLst/>
              </a:prstGeom>
              <a:blipFill>
                <a:blip r:embed="rId5"/>
                <a:stretch>
                  <a:fillRect l="-1120" t="-1205" b="-168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CA4AAE-D78C-CD49-3084-B96CC1BB23B6}"/>
                  </a:ext>
                </a:extLst>
              </p:cNvPr>
              <p:cNvSpPr txBox="1"/>
              <p:nvPr/>
            </p:nvSpPr>
            <p:spPr>
              <a:xfrm>
                <a:off x="8112575" y="4433181"/>
                <a:ext cx="3780000" cy="476726"/>
              </a:xfrm>
              <a:prstGeom prst="roundRect">
                <a:avLst/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533400" lvl="0" indent="-533400">
                  <a:defRPr/>
                </a:pP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rPr>
                  <a:t>(d)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solidFill>
                          <a:prstClr val="white"/>
                        </a:solidFill>
                        <a:cs typeface="Times New Roman" panose="02020603050405020304" pitchFamily="18" charset="0"/>
                      </a:rPr>
                      <m:t>Can</m:t>
                    </m:r>
                    <m:r>
                      <m:rPr>
                        <m:nor/>
                      </m:rPr>
                      <a:rPr lang="en-US" dirty="0">
                        <a:solidFill>
                          <a:prstClr val="white"/>
                        </a:solidFill>
                        <a:cs typeface="Times New Roman" panose="02020603050405020304" pitchFamily="18" charset="0"/>
                      </a:rPr>
                      <m:t>′</m:t>
                    </m:r>
                    <m:r>
                      <m:rPr>
                        <m:nor/>
                      </m:rPr>
                      <a:rPr lang="en-US" dirty="0">
                        <a:solidFill>
                          <a:prstClr val="white"/>
                        </a:solidFill>
                        <a:cs typeface="Times New Roman" panose="020206030504050203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en-US" dirty="0">
                        <a:solidFill>
                          <a:prstClr val="white"/>
                        </a:solidFill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>
                        <a:solidFill>
                          <a:prstClr val="white"/>
                        </a:solidFill>
                        <a:cs typeface="Times New Roman" panose="02020603050405020304" pitchFamily="18" charset="0"/>
                      </a:rPr>
                      <m:t>be</m:t>
                    </m:r>
                    <m:r>
                      <m:rPr>
                        <m:nor/>
                      </m:rPr>
                      <a:rPr lang="en-US" dirty="0">
                        <a:solidFill>
                          <a:prstClr val="white"/>
                        </a:solidFill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>
                        <a:solidFill>
                          <a:prstClr val="white"/>
                        </a:solidFill>
                        <a:cs typeface="Times New Roman" panose="02020603050405020304" pitchFamily="18" charset="0"/>
                      </a:rPr>
                      <m:t>determined</m:t>
                    </m:r>
                  </m:oMath>
                </a14:m>
                <a:endParaRPr kumimoji="0" lang="en-GB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CA4AAE-D78C-CD49-3084-B96CC1BB2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575" y="4433181"/>
                <a:ext cx="3780000" cy="476726"/>
              </a:xfrm>
              <a:prstGeom prst="roundRect">
                <a:avLst/>
              </a:prstGeom>
              <a:blipFill>
                <a:blip r:embed="rId6"/>
                <a:stretch>
                  <a:fillRect l="-960" t="-1205" b="-168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667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3" grpId="0" animBg="1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5C2E5-D5C0-933A-1720-AD074BA9357D}"/>
              </a:ext>
            </a:extLst>
          </p:cNvPr>
          <p:cNvSpPr txBox="1">
            <a:spLocks/>
          </p:cNvSpPr>
          <p:nvPr/>
        </p:nvSpPr>
        <p:spPr>
          <a:xfrm>
            <a:off x="6960558" y="1160463"/>
            <a:ext cx="1763423" cy="46991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Question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D62528-A0E0-C8F8-C107-FFD60951A2EB}"/>
                  </a:ext>
                </a:extLst>
              </p:cNvPr>
              <p:cNvSpPr txBox="1"/>
              <p:nvPr/>
            </p:nvSpPr>
            <p:spPr>
              <a:xfrm>
                <a:off x="3971925" y="1955800"/>
                <a:ext cx="7740650" cy="806648"/>
              </a:xfrm>
              <a:prstGeom prst="roundRect">
                <a:avLst>
                  <a:gd name="adj" fmla="val 8908"/>
                </a:avLst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defRPr/>
                </a:pPr>
                <a:r>
                  <a:rPr lang="en-US" dirty="0">
                    <a:solidFill>
                      <a:prstClr val="white"/>
                    </a:solidFill>
                    <a:cs typeface="Arial" pitchFamily="34" charset="0"/>
                  </a:rPr>
                  <a:t>If given is the graph of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  <m:sSup>
                      <m:sSupPr>
                        <m:ctrlPr>
                          <a:rPr lang="en-US" i="1" dirty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𝑏𝑥</m:t>
                    </m:r>
                    <m:r>
                      <a:rPr lang="en-US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𝑐</m:t>
                    </m:r>
                    <m:r>
                      <a:rPr lang="en-GB" b="0" i="1" dirty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prstClr val="white"/>
                    </a:solidFill>
                    <a:cs typeface="Arial" pitchFamily="34" charset="0"/>
                  </a:rPr>
                  <a:t>, find the sign of ′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prstClr val="white"/>
                    </a:solidFill>
                    <a:cs typeface="Arial" pitchFamily="34" charset="0"/>
                  </a:rPr>
                  <a:t>′ and ′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𝑐</m:t>
                    </m:r>
                  </m:oMath>
                </a14:m>
                <a:r>
                  <a:rPr lang="en-US" dirty="0">
                    <a:solidFill>
                      <a:prstClr val="white"/>
                    </a:solidFill>
                    <a:cs typeface="Arial" pitchFamily="34" charset="0"/>
                  </a:rPr>
                  <a:t>′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D62528-A0E0-C8F8-C107-FFD60951A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925" y="1955800"/>
                <a:ext cx="7740650" cy="806648"/>
              </a:xfrm>
              <a:prstGeom prst="roundRect">
                <a:avLst>
                  <a:gd name="adj" fmla="val 8908"/>
                </a:avLst>
              </a:prstGeom>
              <a:blipFill>
                <a:blip r:embed="rId3"/>
                <a:stretch>
                  <a:fillRect l="-549" r="-549" b="-101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0EBD76-1F29-7200-7600-84061A2CD3A9}"/>
                  </a:ext>
                </a:extLst>
              </p:cNvPr>
              <p:cNvSpPr txBox="1"/>
              <p:nvPr/>
            </p:nvSpPr>
            <p:spPr>
              <a:xfrm>
                <a:off x="3971923" y="4896222"/>
                <a:ext cx="3780000" cy="476726"/>
              </a:xfrm>
              <a:prstGeom prst="roundRect">
                <a:avLst/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533400" indent="-533400">
                  <a:tabLst>
                    <a:tab pos="533400" algn="l"/>
                  </a:tabLst>
                  <a:defRPr/>
                </a:pP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rPr>
                  <a:t>(a)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0" dirty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&gt;0,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&lt;0</m:t>
                    </m:r>
                  </m:oMath>
                </a14:m>
                <a:endParaRPr lang="en-US" dirty="0">
                  <a:solidFill>
                    <a:prstClr val="white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0EBD76-1F29-7200-7600-84061A2CD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923" y="4896222"/>
                <a:ext cx="3780000" cy="476726"/>
              </a:xfrm>
              <a:prstGeom prst="roundRect">
                <a:avLst/>
              </a:prstGeom>
              <a:blipFill>
                <a:blip r:embed="rId4"/>
                <a:stretch>
                  <a:fillRect l="-1120" t="-1205" b="-168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2233522-20F7-DD7D-F3E4-7EA17391B94F}"/>
                  </a:ext>
                </a:extLst>
              </p:cNvPr>
              <p:cNvSpPr txBox="1"/>
              <p:nvPr/>
            </p:nvSpPr>
            <p:spPr>
              <a:xfrm>
                <a:off x="8112575" y="4896222"/>
                <a:ext cx="3780000" cy="476726"/>
              </a:xfrm>
              <a:prstGeom prst="roundRect">
                <a:avLst/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533400" indent="-533400">
                  <a:defRPr/>
                </a:pP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rPr>
                  <a:t>(b)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noProof="0" dirty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&lt;0,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endParaRPr lang="en-US" dirty="0">
                  <a:solidFill>
                    <a:prstClr val="white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2233522-20F7-DD7D-F3E4-7EA17391B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575" y="4896222"/>
                <a:ext cx="3780000" cy="476726"/>
              </a:xfrm>
              <a:prstGeom prst="roundRect">
                <a:avLst/>
              </a:prstGeom>
              <a:blipFill>
                <a:blip r:embed="rId5"/>
                <a:stretch>
                  <a:fillRect l="-960" t="-1205" b="-168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619E571-B6DC-19C4-179D-FA270B94272B}"/>
                  </a:ext>
                </a:extLst>
              </p:cNvPr>
              <p:cNvSpPr txBox="1"/>
              <p:nvPr/>
            </p:nvSpPr>
            <p:spPr>
              <a:xfrm>
                <a:off x="3971924" y="5900403"/>
                <a:ext cx="3780000" cy="476726"/>
              </a:xfrm>
              <a:prstGeom prst="roundRect">
                <a:avLst/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533400" indent="-533400">
                  <a:defRPr/>
                </a:pP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rPr>
                  <a:t>(c)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&lt;0, </m:t>
                    </m:r>
                    <m:r>
                      <m:rPr>
                        <m:sty m:val="p"/>
                      </m:rPr>
                      <a:rPr lang="en-US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&lt;0</m:t>
                    </m:r>
                  </m:oMath>
                </a14:m>
                <a:endParaRPr lang="en-US" dirty="0">
                  <a:solidFill>
                    <a:prstClr val="white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619E571-B6DC-19C4-179D-FA270B942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924" y="5900403"/>
                <a:ext cx="3780000" cy="476726"/>
              </a:xfrm>
              <a:prstGeom prst="roundRect">
                <a:avLst/>
              </a:prstGeom>
              <a:blipFill>
                <a:blip r:embed="rId6"/>
                <a:stretch>
                  <a:fillRect l="-1120" b="-1547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CA4AAE-D78C-CD49-3084-B96CC1BB23B6}"/>
                  </a:ext>
                </a:extLst>
              </p:cNvPr>
              <p:cNvSpPr txBox="1"/>
              <p:nvPr/>
            </p:nvSpPr>
            <p:spPr>
              <a:xfrm>
                <a:off x="8112575" y="5900403"/>
                <a:ext cx="3780000" cy="476726"/>
              </a:xfrm>
              <a:prstGeom prst="roundRect">
                <a:avLst/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533400" lvl="0" indent="-533400">
                  <a:defRPr/>
                </a:pP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rPr>
                  <a:t>(d)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&gt;0, </m:t>
                    </m:r>
                    <m:r>
                      <m:rPr>
                        <m:sty m:val="p"/>
                      </m:rPr>
                      <a:rPr lang="en-US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endParaRPr kumimoji="0" lang="en-GB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CA4AAE-D78C-CD49-3084-B96CC1BB2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575" y="5900403"/>
                <a:ext cx="3780000" cy="476726"/>
              </a:xfrm>
              <a:prstGeom prst="roundRect">
                <a:avLst/>
              </a:prstGeom>
              <a:blipFill>
                <a:blip r:embed="rId7"/>
                <a:stretch>
                  <a:fillRect l="-960" b="-1547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3998EC6-637B-B31A-B5D0-A1C4E8623E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3837" y="3111741"/>
            <a:ext cx="1976826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440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3" grpId="0" animBg="1"/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0B123-FE4F-16B2-E4E3-59B76D8A9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DC214-E2E5-60C1-0B3B-F8759B883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7942" y="1064770"/>
            <a:ext cx="2968664" cy="469916"/>
          </a:xfr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/>
          <a:p>
            <a:r>
              <a:rPr lang="en-GB" dirty="0"/>
              <a:t>Maximum Value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12">
                <a:extLst>
                  <a:ext uri="{FF2B5EF4-FFF2-40B4-BE49-F238E27FC236}">
                    <a16:creationId xmlns:a16="http://schemas.microsoft.com/office/drawing/2014/main" id="{8F7CFBBB-861A-663A-6744-8C34DB40CE31}"/>
                  </a:ext>
                </a:extLst>
              </p:cNvPr>
              <p:cNvSpPr/>
              <p:nvPr/>
            </p:nvSpPr>
            <p:spPr>
              <a:xfrm>
                <a:off x="3982559" y="1789445"/>
                <a:ext cx="7722000" cy="3503968"/>
              </a:xfrm>
              <a:prstGeom prst="roundRect">
                <a:avLst>
                  <a:gd name="adj" fmla="val 11906"/>
                </a:avLst>
              </a:prstGeom>
              <a:solidFill>
                <a:srgbClr val="7C7E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200" dirty="0"/>
                  <a:t>The quadratic expression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200" dirty="0"/>
                  <a:t> attains maximum value when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endParaRPr lang="en-US" sz="2200" dirty="0"/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200" dirty="0"/>
                  <a:t>The maximum value of the expression is obtained at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sz="2200" dirty="0"/>
                  <a:t>.</a:t>
                </a: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endParaRPr lang="en-US" sz="2200" dirty="0"/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200" dirty="0"/>
                  <a:t>The maximum value of the expression is given by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GB" sz="2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9" name="Rounded Rectangle 12">
                <a:extLst>
                  <a:ext uri="{FF2B5EF4-FFF2-40B4-BE49-F238E27FC236}">
                    <a16:creationId xmlns:a16="http://schemas.microsoft.com/office/drawing/2014/main" id="{8F7CFBBB-861A-663A-6744-8C34DB40CE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559" y="1789445"/>
                <a:ext cx="7722000" cy="3503968"/>
              </a:xfrm>
              <a:prstGeom prst="roundRect">
                <a:avLst>
                  <a:gd name="adj" fmla="val 11906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1603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65D53-EEB2-8A7B-21B9-9A69AD060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8A954-1703-1D8D-949E-33D8133A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32" y="1064770"/>
            <a:ext cx="2882884" cy="469916"/>
          </a:xfr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/>
          <a:p>
            <a:r>
              <a:rPr lang="en-GB" dirty="0"/>
              <a:t>Minimum Value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12">
                <a:extLst>
                  <a:ext uri="{FF2B5EF4-FFF2-40B4-BE49-F238E27FC236}">
                    <a16:creationId xmlns:a16="http://schemas.microsoft.com/office/drawing/2014/main" id="{3615AFB0-7FD8-F2F5-C2DB-2E3577124DBA}"/>
                  </a:ext>
                </a:extLst>
              </p:cNvPr>
              <p:cNvSpPr/>
              <p:nvPr/>
            </p:nvSpPr>
            <p:spPr>
              <a:xfrm>
                <a:off x="3982559" y="1789445"/>
                <a:ext cx="7722000" cy="3513484"/>
              </a:xfrm>
              <a:prstGeom prst="roundRect">
                <a:avLst>
                  <a:gd name="adj" fmla="val 11906"/>
                </a:avLst>
              </a:prstGeom>
              <a:solidFill>
                <a:srgbClr val="7C7E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200" dirty="0"/>
                  <a:t>The quadratic expression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200" dirty="0"/>
                  <a:t> attains minimum value when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endParaRPr lang="en-US" sz="2200" dirty="0"/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200" dirty="0"/>
                  <a:t>The minimum value of the expression is obtained at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sz="2200" dirty="0"/>
                  <a:t>.</a:t>
                </a: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endParaRPr lang="en-US" sz="2200" dirty="0"/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sz="2200" dirty="0"/>
                  <a:t>The minimum value of the expression is given by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GB" sz="2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9" name="Rounded Rectangle 12">
                <a:extLst>
                  <a:ext uri="{FF2B5EF4-FFF2-40B4-BE49-F238E27FC236}">
                    <a16:creationId xmlns:a16="http://schemas.microsoft.com/office/drawing/2014/main" id="{3615AFB0-7FD8-F2F5-C2DB-2E3577124D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559" y="1789445"/>
                <a:ext cx="7722000" cy="3513484"/>
              </a:xfrm>
              <a:prstGeom prst="roundRect">
                <a:avLst>
                  <a:gd name="adj" fmla="val 11906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8944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60A52-FC0D-7096-BE3E-6703BD284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552" y="1160463"/>
            <a:ext cx="1763423" cy="469916"/>
          </a:xfr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/>
          <a:p>
            <a:r>
              <a:rPr lang="en-GB" dirty="0"/>
              <a:t>Question</a:t>
            </a:r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E5A47C6-3374-DE3A-BF4F-21F2FC68099F}"/>
              </a:ext>
            </a:extLst>
          </p:cNvPr>
          <p:cNvCxnSpPr>
            <a:cxnSpLocks/>
          </p:cNvCxnSpPr>
          <p:nvPr/>
        </p:nvCxnSpPr>
        <p:spPr>
          <a:xfrm>
            <a:off x="7345680" y="2753360"/>
            <a:ext cx="0" cy="4216400"/>
          </a:xfrm>
          <a:prstGeom prst="straightConnector1">
            <a:avLst/>
          </a:prstGeom>
          <a:ln w="28575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0561FC5-D785-170B-A861-B625E4A4C075}"/>
              </a:ext>
            </a:extLst>
          </p:cNvPr>
          <p:cNvCxnSpPr>
            <a:cxnSpLocks/>
          </p:cNvCxnSpPr>
          <p:nvPr/>
        </p:nvCxnSpPr>
        <p:spPr>
          <a:xfrm flipH="1">
            <a:off x="4419600" y="4653280"/>
            <a:ext cx="7386320" cy="0"/>
          </a:xfrm>
          <a:prstGeom prst="straightConnector1">
            <a:avLst/>
          </a:prstGeom>
          <a:ln w="28575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rc 8">
            <a:extLst>
              <a:ext uri="{FF2B5EF4-FFF2-40B4-BE49-F238E27FC236}">
                <a16:creationId xmlns:a16="http://schemas.microsoft.com/office/drawing/2014/main" id="{BA4311AA-4B19-935C-E6DD-2544742EA937}"/>
              </a:ext>
            </a:extLst>
          </p:cNvPr>
          <p:cNvSpPr/>
          <p:nvPr/>
        </p:nvSpPr>
        <p:spPr>
          <a:xfrm flipV="1">
            <a:off x="9641842" y="115142"/>
            <a:ext cx="1473198" cy="5858937"/>
          </a:xfrm>
          <a:prstGeom prst="arc">
            <a:avLst>
              <a:gd name="adj1" fmla="val 10828060"/>
              <a:gd name="adj2" fmla="val 21506164"/>
            </a:avLst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2E99458-3608-0FD0-A694-764056FE21E5}"/>
              </a:ext>
            </a:extLst>
          </p:cNvPr>
          <p:cNvCxnSpPr/>
          <p:nvPr/>
        </p:nvCxnSpPr>
        <p:spPr>
          <a:xfrm>
            <a:off x="8554720" y="4526280"/>
            <a:ext cx="0" cy="26924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B3BD681-E5A3-A048-E37C-C6A7C71339B5}"/>
              </a:ext>
            </a:extLst>
          </p:cNvPr>
          <p:cNvCxnSpPr/>
          <p:nvPr/>
        </p:nvCxnSpPr>
        <p:spPr>
          <a:xfrm>
            <a:off x="9763760" y="4538980"/>
            <a:ext cx="0" cy="26924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D66538-E444-E261-188B-3A2FE29DB884}"/>
              </a:ext>
            </a:extLst>
          </p:cNvPr>
          <p:cNvCxnSpPr/>
          <p:nvPr/>
        </p:nvCxnSpPr>
        <p:spPr>
          <a:xfrm>
            <a:off x="11003280" y="4536440"/>
            <a:ext cx="0" cy="26924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9495C72-1708-D9C5-FDEC-553D0AF2F77C}"/>
              </a:ext>
            </a:extLst>
          </p:cNvPr>
          <p:cNvSpPr txBox="1"/>
          <p:nvPr/>
        </p:nvSpPr>
        <p:spPr>
          <a:xfrm>
            <a:off x="11734801" y="4676894"/>
            <a:ext cx="619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chemeClr val="bg1"/>
                </a:solidFill>
              </a:rPr>
              <a:t>x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3F2A5B-FE8C-795C-FDCB-81AF3FFC3BEE}"/>
              </a:ext>
            </a:extLst>
          </p:cNvPr>
          <p:cNvSpPr txBox="1"/>
          <p:nvPr/>
        </p:nvSpPr>
        <p:spPr>
          <a:xfrm>
            <a:off x="7222494" y="2306572"/>
            <a:ext cx="619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chemeClr val="bg1"/>
                </a:solidFill>
              </a:rPr>
              <a:t>y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2D8589-6065-D1B2-D65A-DB5471B377C0}"/>
              </a:ext>
            </a:extLst>
          </p:cNvPr>
          <p:cNvSpPr txBox="1"/>
          <p:nvPr/>
        </p:nvSpPr>
        <p:spPr>
          <a:xfrm flipH="1">
            <a:off x="8217535" y="4780281"/>
            <a:ext cx="742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(1,0)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5790AA-DD47-7D2F-461E-C35CD2AE70BF}"/>
              </a:ext>
            </a:extLst>
          </p:cNvPr>
          <p:cNvSpPr txBox="1"/>
          <p:nvPr/>
        </p:nvSpPr>
        <p:spPr>
          <a:xfrm flipH="1">
            <a:off x="9344027" y="4808973"/>
            <a:ext cx="742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(2,0)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70D360-F165-371A-3F07-2B22687CF2E9}"/>
              </a:ext>
            </a:extLst>
          </p:cNvPr>
          <p:cNvSpPr txBox="1"/>
          <p:nvPr/>
        </p:nvSpPr>
        <p:spPr>
          <a:xfrm flipH="1">
            <a:off x="10885171" y="4861560"/>
            <a:ext cx="742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(3,0)</a:t>
            </a:r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85E27AF-F0CD-CAF5-6D5E-A5233156B8B3}"/>
                  </a:ext>
                </a:extLst>
              </p:cNvPr>
              <p:cNvSpPr txBox="1"/>
              <p:nvPr/>
            </p:nvSpPr>
            <p:spPr>
              <a:xfrm>
                <a:off x="4356567" y="2061175"/>
                <a:ext cx="61772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>
                  <a:defRPr/>
                </a:pPr>
                <a:r>
                  <a:rPr lang="en-GB" sz="2000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Find the maximum or minimum value for</a:t>
                </a:r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GB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𝑥</m:t>
                    </m:r>
                    <m:r>
                      <a:rPr kumimoji="0" lang="en-GB" sz="2000" b="0" i="1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2</m:t>
                    </m:r>
                    <m:r>
                      <a:rPr kumimoji="0" lang="en-GB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2000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kumimoji="0" lang="en-GB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2000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kumimoji="0" lang="en-GB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𝑥</m:t>
                    </m:r>
                    <m:r>
                      <a:rPr kumimoji="0" lang="en-GB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 + 6</m:t>
                    </m:r>
                  </m:oMath>
                </a14:m>
                <a:endPara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85E27AF-F0CD-CAF5-6D5E-A5233156B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567" y="2061175"/>
                <a:ext cx="6177280" cy="400110"/>
              </a:xfrm>
              <a:prstGeom prst="rect">
                <a:avLst/>
              </a:prstGeom>
              <a:blipFill>
                <a:blip r:embed="rId2"/>
                <a:stretch>
                  <a:fillRect l="-1086" t="-7576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9897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/>
      <p:bldP spid="16" grpId="0"/>
      <p:bldP spid="17" grpId="0"/>
      <p:bldP spid="18" grpId="0"/>
      <p:bldP spid="19" grpId="0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E5A47C6-3374-DE3A-BF4F-21F2FC68099F}"/>
              </a:ext>
            </a:extLst>
          </p:cNvPr>
          <p:cNvCxnSpPr>
            <a:cxnSpLocks/>
          </p:cNvCxnSpPr>
          <p:nvPr/>
        </p:nvCxnSpPr>
        <p:spPr>
          <a:xfrm>
            <a:off x="7345680" y="2763520"/>
            <a:ext cx="0" cy="4216400"/>
          </a:xfrm>
          <a:prstGeom prst="straightConnector1">
            <a:avLst/>
          </a:prstGeom>
          <a:ln w="28575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0561FC5-D785-170B-A861-B625E4A4C075}"/>
              </a:ext>
            </a:extLst>
          </p:cNvPr>
          <p:cNvCxnSpPr>
            <a:cxnSpLocks/>
          </p:cNvCxnSpPr>
          <p:nvPr/>
        </p:nvCxnSpPr>
        <p:spPr>
          <a:xfrm flipH="1">
            <a:off x="4419600" y="4663440"/>
            <a:ext cx="7386320" cy="0"/>
          </a:xfrm>
          <a:prstGeom prst="straightConnector1">
            <a:avLst/>
          </a:prstGeom>
          <a:ln w="28575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rc 8">
            <a:extLst>
              <a:ext uri="{FF2B5EF4-FFF2-40B4-BE49-F238E27FC236}">
                <a16:creationId xmlns:a16="http://schemas.microsoft.com/office/drawing/2014/main" id="{BA4311AA-4B19-935C-E6DD-2544742EA937}"/>
              </a:ext>
            </a:extLst>
          </p:cNvPr>
          <p:cNvSpPr/>
          <p:nvPr/>
        </p:nvSpPr>
        <p:spPr>
          <a:xfrm flipV="1">
            <a:off x="9641842" y="125302"/>
            <a:ext cx="1473198" cy="5858937"/>
          </a:xfrm>
          <a:prstGeom prst="arc">
            <a:avLst>
              <a:gd name="adj1" fmla="val 10828060"/>
              <a:gd name="adj2" fmla="val 21506164"/>
            </a:avLst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B3BD681-E5A3-A048-E37C-C6A7C71339B5}"/>
              </a:ext>
            </a:extLst>
          </p:cNvPr>
          <p:cNvCxnSpPr/>
          <p:nvPr/>
        </p:nvCxnSpPr>
        <p:spPr>
          <a:xfrm>
            <a:off x="9763760" y="4549140"/>
            <a:ext cx="0" cy="26924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D66538-E444-E261-188B-3A2FE29DB884}"/>
              </a:ext>
            </a:extLst>
          </p:cNvPr>
          <p:cNvCxnSpPr/>
          <p:nvPr/>
        </p:nvCxnSpPr>
        <p:spPr>
          <a:xfrm>
            <a:off x="11003280" y="4546600"/>
            <a:ext cx="0" cy="26924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9495C72-1708-D9C5-FDEC-553D0AF2F77C}"/>
              </a:ext>
            </a:extLst>
          </p:cNvPr>
          <p:cNvSpPr txBox="1"/>
          <p:nvPr/>
        </p:nvSpPr>
        <p:spPr>
          <a:xfrm>
            <a:off x="11734801" y="4687054"/>
            <a:ext cx="619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chemeClr val="bg1"/>
                </a:solidFill>
              </a:rPr>
              <a:t>x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3F2A5B-FE8C-795C-FDCB-81AF3FFC3BEE}"/>
              </a:ext>
            </a:extLst>
          </p:cNvPr>
          <p:cNvSpPr txBox="1"/>
          <p:nvPr/>
        </p:nvSpPr>
        <p:spPr>
          <a:xfrm>
            <a:off x="7222494" y="2316732"/>
            <a:ext cx="619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chemeClr val="bg1"/>
                </a:solidFill>
              </a:rPr>
              <a:t>y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5790AA-DD47-7D2F-461E-C35CD2AE70BF}"/>
              </a:ext>
            </a:extLst>
          </p:cNvPr>
          <p:cNvSpPr txBox="1"/>
          <p:nvPr/>
        </p:nvSpPr>
        <p:spPr>
          <a:xfrm flipH="1">
            <a:off x="9344027" y="4819133"/>
            <a:ext cx="742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(3,0)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70D360-F165-371A-3F07-2B22687CF2E9}"/>
              </a:ext>
            </a:extLst>
          </p:cNvPr>
          <p:cNvSpPr txBox="1"/>
          <p:nvPr/>
        </p:nvSpPr>
        <p:spPr>
          <a:xfrm flipH="1">
            <a:off x="10885171" y="4871720"/>
            <a:ext cx="742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(4,0)</a:t>
            </a:r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85E27AF-F0CD-CAF5-6D5E-A5233156B8B3}"/>
                  </a:ext>
                </a:extLst>
              </p:cNvPr>
              <p:cNvSpPr txBox="1"/>
              <p:nvPr/>
            </p:nvSpPr>
            <p:spPr>
              <a:xfrm>
                <a:off x="4356567" y="2061175"/>
                <a:ext cx="61772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>
                  <a:defRPr/>
                </a:pPr>
                <a:r>
                  <a:rPr lang="en-GB" sz="2000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Find the maximum or minimum value f</a:t>
                </a:r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or </a:t>
                </a:r>
                <a14:m>
                  <m:oMath xmlns:m="http://schemas.openxmlformats.org/officeDocument/2006/math">
                    <m:r>
                      <a:rPr kumimoji="0" lang="en-GB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𝑥</m:t>
                    </m:r>
                    <m:r>
                      <a:rPr kumimoji="0" lang="en-GB" sz="2000" b="0" i="1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2</m:t>
                    </m:r>
                    <m:r>
                      <a:rPr kumimoji="0" lang="en-GB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2000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kumimoji="0" lang="en-GB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2000" i="1" noProof="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7</m:t>
                    </m:r>
                    <m:r>
                      <a:rPr kumimoji="0" lang="en-GB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𝑥</m:t>
                    </m:r>
                    <m:r>
                      <a:rPr kumimoji="0" lang="en-GB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 + 12</m:t>
                    </m:r>
                  </m:oMath>
                </a14:m>
                <a:endPara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85E27AF-F0CD-CAF5-6D5E-A5233156B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567" y="2061175"/>
                <a:ext cx="6177280" cy="400110"/>
              </a:xfrm>
              <a:prstGeom prst="rect">
                <a:avLst/>
              </a:prstGeom>
              <a:blipFill>
                <a:blip r:embed="rId2"/>
                <a:stretch>
                  <a:fillRect l="-1086" t="-7576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B4F65496-DABB-EFE6-B59B-DA7C58219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552" y="1160463"/>
            <a:ext cx="1763423" cy="469916"/>
          </a:xfr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/>
          <a:p>
            <a:r>
              <a:rPr lang="en-GB" dirty="0"/>
              <a:t>Question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930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/>
      <p:bldP spid="16" grpId="0"/>
      <p:bldP spid="18" grpId="0"/>
      <p:bldP spid="19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0BEC3-21F9-0487-1757-90F8344D5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AE0E1-3507-3599-9DCA-EF1CEE36A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7698" y="1064770"/>
            <a:ext cx="5149167" cy="469916"/>
          </a:xfr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/>
          <a:p>
            <a:r>
              <a:rPr lang="en-GB" dirty="0"/>
              <a:t>Condition for Common Roots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12">
                <a:extLst>
                  <a:ext uri="{FF2B5EF4-FFF2-40B4-BE49-F238E27FC236}">
                    <a16:creationId xmlns:a16="http://schemas.microsoft.com/office/drawing/2014/main" id="{5F33BF11-A3AF-AB29-EF8C-100377BCBC26}"/>
                  </a:ext>
                </a:extLst>
              </p:cNvPr>
              <p:cNvSpPr/>
              <p:nvPr/>
            </p:nvSpPr>
            <p:spPr>
              <a:xfrm>
                <a:off x="3982559" y="1789445"/>
                <a:ext cx="7722000" cy="3351848"/>
              </a:xfrm>
              <a:prstGeom prst="roundRect">
                <a:avLst>
                  <a:gd name="adj" fmla="val 11906"/>
                </a:avLst>
              </a:prstGeom>
              <a:solidFill>
                <a:srgbClr val="7C7E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/>
              <a:p>
                <a:r>
                  <a:rPr lang="en-GB" sz="2200" b="1" dirty="0"/>
                  <a:t>One Common Root:</a:t>
                </a:r>
              </a:p>
              <a:p>
                <a:endParaRPr lang="en-GB" sz="2200" b="1" dirty="0"/>
              </a:p>
              <a:p>
                <a:r>
                  <a:rPr lang="en-GB" sz="2200" dirty="0"/>
                  <a:t>Let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𝑝</m:t>
                    </m:r>
                    <m:sSup>
                      <m:sSupPr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𝑞𝑥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200" dirty="0"/>
                  <a:t> be the two quadratic equations.</a:t>
                </a:r>
              </a:p>
              <a:p>
                <a:endParaRPr lang="en-US" sz="2200" dirty="0"/>
              </a:p>
              <a:p>
                <a:r>
                  <a:rPr lang="en-US" sz="2200" dirty="0"/>
                  <a:t>The above two equations will have a common root only when the following condition is satisfied:</a:t>
                </a:r>
              </a:p>
              <a:p>
                <a:endParaRPr lang="en-US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  <m:t>𝑎𝑟</m:t>
                              </m:r>
                              <m: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  <m:t>𝑝𝑐</m:t>
                              </m:r>
                            </m:e>
                          </m:d>
                        </m:e>
                        <m:sup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𝑏𝑟</m:t>
                          </m:r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𝑞𝑐</m:t>
                          </m:r>
                        </m:e>
                      </m:d>
                      <m:d>
                        <m:dPr>
                          <m:ctrlPr>
                            <a:rPr lang="en-GB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𝑝𝑏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9" name="Rounded Rectangle 12">
                <a:extLst>
                  <a:ext uri="{FF2B5EF4-FFF2-40B4-BE49-F238E27FC236}">
                    <a16:creationId xmlns:a16="http://schemas.microsoft.com/office/drawing/2014/main" id="{5F33BF11-A3AF-AB29-EF8C-100377BCBC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559" y="1789445"/>
                <a:ext cx="7722000" cy="3351848"/>
              </a:xfrm>
              <a:prstGeom prst="roundRect">
                <a:avLst>
                  <a:gd name="adj" fmla="val 11906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2251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BD8A7-4CF0-AB9F-FB2F-B5CE18F98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799E1-8057-EC87-86A9-FE9C29D5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7698" y="1064770"/>
            <a:ext cx="5149167" cy="469916"/>
          </a:xfr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/>
          <a:p>
            <a:r>
              <a:rPr lang="en-GB" dirty="0"/>
              <a:t>Condition for Common Roots</a:t>
            </a:r>
            <a:endParaRPr lang="en-US" dirty="0"/>
          </a:p>
        </p:txBody>
      </p:sp>
      <p:sp>
        <p:nvSpPr>
          <p:cNvPr id="9" name="Rounded Rectangle 12">
            <a:extLst>
              <a:ext uri="{FF2B5EF4-FFF2-40B4-BE49-F238E27FC236}">
                <a16:creationId xmlns:a16="http://schemas.microsoft.com/office/drawing/2014/main" id="{4F9ED4CC-C21A-FDC4-2862-7AF7048AA9DE}"/>
              </a:ext>
            </a:extLst>
          </p:cNvPr>
          <p:cNvSpPr/>
          <p:nvPr/>
        </p:nvSpPr>
        <p:spPr>
          <a:xfrm>
            <a:off x="3982559" y="1789445"/>
            <a:ext cx="7722000" cy="460058"/>
          </a:xfrm>
          <a:prstGeom prst="roundRect">
            <a:avLst>
              <a:gd name="adj" fmla="val 11906"/>
            </a:avLst>
          </a:prstGeom>
          <a:solidFill>
            <a:srgbClr val="7C7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spAutoFit/>
          </a:bodyPr>
          <a:lstStyle/>
          <a:p>
            <a:r>
              <a:rPr lang="en-GB" sz="2200" b="1" dirty="0"/>
              <a:t>One Common Root:</a:t>
            </a:r>
          </a:p>
        </p:txBody>
      </p:sp>
    </p:spTree>
    <p:extLst>
      <p:ext uri="{BB962C8B-B14F-4D97-AF65-F5344CB8AC3E}">
        <p14:creationId xmlns:p14="http://schemas.microsoft.com/office/powerpoint/2010/main" val="1894057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016CB-2456-C353-0325-52B265CE7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A7CAB-8A16-9398-7ECE-AF236806F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7698" y="1064770"/>
            <a:ext cx="5149167" cy="469916"/>
          </a:xfr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/>
          <a:p>
            <a:r>
              <a:rPr lang="en-GB" dirty="0"/>
              <a:t>Condition for Common Roots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12">
                <a:extLst>
                  <a:ext uri="{FF2B5EF4-FFF2-40B4-BE49-F238E27FC236}">
                    <a16:creationId xmlns:a16="http://schemas.microsoft.com/office/drawing/2014/main" id="{D2962B21-21B7-307C-A6D3-10929D415EA0}"/>
                  </a:ext>
                </a:extLst>
              </p:cNvPr>
              <p:cNvSpPr/>
              <p:nvPr/>
            </p:nvSpPr>
            <p:spPr>
              <a:xfrm>
                <a:off x="3982559" y="1789445"/>
                <a:ext cx="7722000" cy="3737556"/>
              </a:xfrm>
              <a:prstGeom prst="roundRect">
                <a:avLst>
                  <a:gd name="adj" fmla="val 11906"/>
                </a:avLst>
              </a:prstGeom>
              <a:solidFill>
                <a:srgbClr val="7C7E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/>
              <a:p>
                <a:r>
                  <a:rPr lang="en-GB" sz="2200" b="1" dirty="0"/>
                  <a:t>Two Common Roots:</a:t>
                </a:r>
              </a:p>
              <a:p>
                <a:endParaRPr lang="en-GB" sz="2200" b="1" dirty="0"/>
              </a:p>
              <a:p>
                <a:r>
                  <a:rPr lang="en-GB" sz="2200" dirty="0"/>
                  <a:t>Let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𝑝</m:t>
                    </m:r>
                    <m:sSup>
                      <m:sSupPr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𝑞𝑥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200" dirty="0"/>
                  <a:t> be the two quadratic equations.</a:t>
                </a:r>
              </a:p>
              <a:p>
                <a:endParaRPr lang="en-US" sz="2200" dirty="0"/>
              </a:p>
              <a:p>
                <a:r>
                  <a:rPr lang="en-US" sz="2200" dirty="0"/>
                  <a:t>The above two equations will have two common roots only when the following condition is satisfied:</a:t>
                </a:r>
              </a:p>
              <a:p>
                <a:endParaRPr lang="en-US" sz="2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GB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GB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9" name="Rounded Rectangle 12">
                <a:extLst>
                  <a:ext uri="{FF2B5EF4-FFF2-40B4-BE49-F238E27FC236}">
                    <a16:creationId xmlns:a16="http://schemas.microsoft.com/office/drawing/2014/main" id="{D2962B21-21B7-307C-A6D3-10929D415E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559" y="1789445"/>
                <a:ext cx="7722000" cy="3737556"/>
              </a:xfrm>
              <a:prstGeom prst="roundRect">
                <a:avLst>
                  <a:gd name="adj" fmla="val 11906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696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AC157-487D-1006-8D24-DC1A049C2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F5E36-2547-BD87-797A-9DFE1B472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7698" y="1064770"/>
            <a:ext cx="5149167" cy="469916"/>
          </a:xfr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/>
          <a:p>
            <a:r>
              <a:rPr lang="en-GB" dirty="0"/>
              <a:t>Condition for Common Roots</a:t>
            </a:r>
            <a:endParaRPr lang="en-US" dirty="0"/>
          </a:p>
        </p:txBody>
      </p:sp>
      <p:sp>
        <p:nvSpPr>
          <p:cNvPr id="9" name="Rounded Rectangle 12">
            <a:extLst>
              <a:ext uri="{FF2B5EF4-FFF2-40B4-BE49-F238E27FC236}">
                <a16:creationId xmlns:a16="http://schemas.microsoft.com/office/drawing/2014/main" id="{A8A12573-1525-4997-C3ED-84EED1BD400E}"/>
              </a:ext>
            </a:extLst>
          </p:cNvPr>
          <p:cNvSpPr/>
          <p:nvPr/>
        </p:nvSpPr>
        <p:spPr>
          <a:xfrm>
            <a:off x="3982559" y="1789445"/>
            <a:ext cx="7722000" cy="460058"/>
          </a:xfrm>
          <a:prstGeom prst="roundRect">
            <a:avLst>
              <a:gd name="adj" fmla="val 11906"/>
            </a:avLst>
          </a:prstGeom>
          <a:solidFill>
            <a:srgbClr val="7C7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spAutoFit/>
          </a:bodyPr>
          <a:lstStyle/>
          <a:p>
            <a:r>
              <a:rPr lang="en-GB" sz="2200" b="1" dirty="0"/>
              <a:t>Two Common Roots:</a:t>
            </a:r>
          </a:p>
        </p:txBody>
      </p:sp>
    </p:spTree>
    <p:extLst>
      <p:ext uri="{BB962C8B-B14F-4D97-AF65-F5344CB8AC3E}">
        <p14:creationId xmlns:p14="http://schemas.microsoft.com/office/powerpoint/2010/main" val="342995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860CA-0FC5-3F6D-5288-3699DEC89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FD95D6-E8A4-063D-38A9-E1246CF7F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539" y="1160463"/>
            <a:ext cx="1763422" cy="469916"/>
          </a:xfr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/>
          <a:p>
            <a:r>
              <a:rPr lang="en-US" dirty="0"/>
              <a:t>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E9CC45-5857-29E6-42D3-55280D5D91FD}"/>
                  </a:ext>
                </a:extLst>
              </p:cNvPr>
              <p:cNvSpPr txBox="1"/>
              <p:nvPr/>
            </p:nvSpPr>
            <p:spPr>
              <a:xfrm>
                <a:off x="3971925" y="1912501"/>
                <a:ext cx="7740650" cy="806648"/>
              </a:xfrm>
              <a:prstGeom prst="roundRect">
                <a:avLst>
                  <a:gd name="adj" fmla="val 8908"/>
                </a:avLst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rPr>
                  <a:t>If the equations </a:t>
                </a:r>
                <a14:m>
                  <m:oMath xmlns:m="http://schemas.openxmlformats.org/officeDocument/2006/math"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2</m:t>
                    </m:r>
                    <m:sSup>
                      <m:sSupPr>
                        <m:ctrlP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+mn-cs"/>
                          </a:rPr>
                          <m:t>𝑥</m:t>
                        </m:r>
                      </m:e>
                      <m:sup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+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𝑘𝑥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−5=0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Arial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−3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𝑥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−4=0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Arial" pitchFamily="34" charset="0"/>
                  </a:rPr>
                  <a:t> have exactly one common root,</a:t>
                </a:r>
                <a:r>
                  <a:rPr kumimoji="0" lang="en-US" sz="2200" b="0" i="0" u="none" strike="noStrike" kern="1200" cap="none" spc="0" normalizeH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Arial" pitchFamily="34" charset="0"/>
                  </a:rPr>
                  <a:t> then find the value of </a:t>
                </a:r>
                <a14:m>
                  <m:oMath xmlns:m="http://schemas.openxmlformats.org/officeDocument/2006/math">
                    <m:r>
                      <a:rPr kumimoji="0" lang="en-US" sz="2200" b="0" i="1" u="none" strike="noStrike" kern="1200" cap="none" spc="0" normalizeH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𝑘</m:t>
                    </m:r>
                  </m:oMath>
                </a14:m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E9CC45-5857-29E6-42D3-55280D5D9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925" y="1912501"/>
                <a:ext cx="7740650" cy="806648"/>
              </a:xfrm>
              <a:prstGeom prst="roundRect">
                <a:avLst>
                  <a:gd name="adj" fmla="val 8908"/>
                </a:avLst>
              </a:prstGeom>
              <a:blipFill>
                <a:blip r:embed="rId2"/>
                <a:stretch>
                  <a:fillRect l="-549" t="-725" r="-549" b="-101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9C70FF-72DF-BA21-B3D4-C1D0CDFA42E9}"/>
                  </a:ext>
                </a:extLst>
              </p:cNvPr>
              <p:cNvSpPr txBox="1"/>
              <p:nvPr/>
            </p:nvSpPr>
            <p:spPr>
              <a:xfrm>
                <a:off x="3971923" y="4228862"/>
                <a:ext cx="3600000" cy="476726"/>
              </a:xfrm>
              <a:prstGeom prst="roundRect">
                <a:avLst/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533400" marR="0" lvl="0" indent="-53340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533400" algn="l"/>
                  </a:tabLst>
                  <a:defRPr/>
                </a:pP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rPr>
                  <a:t>(a)	</a:t>
                </a:r>
                <a14:m>
                  <m:oMath xmlns:m="http://schemas.openxmlformats.org/officeDocument/2006/math">
                    <m:r>
                      <a:rPr kumimoji="0" lang="en-GB" sz="2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−3</m:t>
                    </m:r>
                  </m:oMath>
                </a14:m>
                <a:endParaRPr kumimoji="0" lang="en-GB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9C70FF-72DF-BA21-B3D4-C1D0CDFA4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923" y="4228862"/>
                <a:ext cx="3600000" cy="476726"/>
              </a:xfrm>
              <a:prstGeom prst="roundRect">
                <a:avLst/>
              </a:prstGeom>
              <a:blipFill>
                <a:blip r:embed="rId3"/>
                <a:stretch>
                  <a:fillRect l="-1174" b="-168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8AEF60-657A-DF2F-C7B8-D06C912B607C}"/>
                  </a:ext>
                </a:extLst>
              </p:cNvPr>
              <p:cNvSpPr txBox="1"/>
              <p:nvPr/>
            </p:nvSpPr>
            <p:spPr>
              <a:xfrm>
                <a:off x="8112575" y="4228862"/>
                <a:ext cx="3600000" cy="631876"/>
              </a:xfrm>
              <a:prstGeom prst="roundRect">
                <a:avLst/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533400" marR="0" lvl="0" indent="-53340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rPr>
                  <a:t>(b)	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27</m:t>
                        </m:r>
                      </m:num>
                      <m:den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kumimoji="0" lang="en-GB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8AEF60-657A-DF2F-C7B8-D06C912B6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575" y="4228862"/>
                <a:ext cx="3600000" cy="631876"/>
              </a:xfrm>
              <a:prstGeom prst="roundRect">
                <a:avLst/>
              </a:prstGeom>
              <a:blipFill>
                <a:blip r:embed="rId4"/>
                <a:stretch>
                  <a:fillRect l="-839" b="-9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594631F-CFA6-BF66-BAEF-18F87B432EBB}"/>
              </a:ext>
            </a:extLst>
          </p:cNvPr>
          <p:cNvSpPr txBox="1"/>
          <p:nvPr/>
        </p:nvSpPr>
        <p:spPr>
          <a:xfrm>
            <a:off x="3971924" y="5233043"/>
            <a:ext cx="3600000" cy="476726"/>
          </a:xfrm>
          <a:prstGeom prst="roundRect">
            <a:avLst/>
          </a:prstGeo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spAutoFit/>
          </a:bodyPr>
          <a:lstStyle>
            <a:defPPr>
              <a:defRPr lang="en-US"/>
            </a:defPPr>
            <a:lvl1pPr algn="just">
              <a:defRPr sz="2200">
                <a:solidFill>
                  <a:schemeClr val="bg1"/>
                </a:solidFill>
                <a:ea typeface="Verdana" panose="020B060403050404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533400" marR="0" lvl="0" indent="-5334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(c)	Both (a) and (b)</a:t>
            </a:r>
            <a:endParaRPr kumimoji="0" lang="en-GB" sz="2200" b="0" i="0" u="none" strike="noStrike" kern="1200" cap="none" spc="0" normalizeH="0" baseline="30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F3C741-F6F5-B6FE-E8E3-C58EF3382136}"/>
              </a:ext>
            </a:extLst>
          </p:cNvPr>
          <p:cNvSpPr txBox="1"/>
          <p:nvPr/>
        </p:nvSpPr>
        <p:spPr>
          <a:xfrm>
            <a:off x="8112575" y="5233043"/>
            <a:ext cx="3600000" cy="476726"/>
          </a:xfrm>
          <a:prstGeom prst="roundRect">
            <a:avLst/>
          </a:prstGeo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spAutoFit/>
          </a:bodyPr>
          <a:lstStyle>
            <a:defPPr>
              <a:defRPr lang="en-US"/>
            </a:defPPr>
            <a:lvl1pPr algn="just">
              <a:defRPr sz="2200">
                <a:solidFill>
                  <a:schemeClr val="bg1"/>
                </a:solidFill>
                <a:ea typeface="Verdana" panose="020B060403050404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533400" lvl="0" indent="-533400">
              <a:defRPr/>
            </a:pP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(d)	None of these</a:t>
            </a:r>
          </a:p>
        </p:txBody>
      </p:sp>
    </p:spTree>
    <p:extLst>
      <p:ext uri="{BB962C8B-B14F-4D97-AF65-F5344CB8AC3E}">
        <p14:creationId xmlns:p14="http://schemas.microsoft.com/office/powerpoint/2010/main" val="3861836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09836-5591-6BF3-040D-3FB34C312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51551A-3248-D1A7-F4F2-DAA9ABD1F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539" y="1160463"/>
            <a:ext cx="1763422" cy="469916"/>
          </a:xfr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/>
          <a:p>
            <a:r>
              <a:rPr lang="en-US" dirty="0"/>
              <a:t>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27C232-100E-CBEC-0EF3-71FE051E6602}"/>
                  </a:ext>
                </a:extLst>
              </p:cNvPr>
              <p:cNvSpPr txBox="1"/>
              <p:nvPr/>
            </p:nvSpPr>
            <p:spPr>
              <a:xfrm>
                <a:off x="3971925" y="1912501"/>
                <a:ext cx="7740650" cy="806648"/>
              </a:xfrm>
              <a:prstGeom prst="roundRect">
                <a:avLst>
                  <a:gd name="adj" fmla="val 8908"/>
                </a:avLst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rPr>
                  <a:t>If the equations </a:t>
                </a:r>
                <a14:m>
                  <m:oMath xmlns:m="http://schemas.openxmlformats.org/officeDocument/2006/math"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2</m:t>
                    </m:r>
                    <m:sSup>
                      <m:sSupPr>
                        <m:ctrlP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+mn-cs"/>
                          </a:rPr>
                          <m:t>𝑥</m:t>
                        </m:r>
                      </m:e>
                      <m:sup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+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𝑘𝑥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−5=0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Arial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−3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𝑥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−4=0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Arial" pitchFamily="34" charset="0"/>
                  </a:rPr>
                  <a:t> have exactly one common root,</a:t>
                </a:r>
                <a:r>
                  <a:rPr kumimoji="0" lang="en-US" sz="2200" b="0" i="0" u="none" strike="noStrike" kern="1200" cap="none" spc="0" normalizeH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Arial" pitchFamily="34" charset="0"/>
                  </a:rPr>
                  <a:t> then find the value of </a:t>
                </a:r>
                <a14:m>
                  <m:oMath xmlns:m="http://schemas.openxmlformats.org/officeDocument/2006/math">
                    <m:r>
                      <a:rPr kumimoji="0" lang="en-US" sz="2200" b="0" i="1" u="none" strike="noStrike" kern="1200" cap="none" spc="0" normalizeH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𝑘</m:t>
                    </m:r>
                  </m:oMath>
                </a14:m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27C232-100E-CBEC-0EF3-71FE051E6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925" y="1912501"/>
                <a:ext cx="7740650" cy="806648"/>
              </a:xfrm>
              <a:prstGeom prst="roundRect">
                <a:avLst>
                  <a:gd name="adj" fmla="val 8908"/>
                </a:avLst>
              </a:prstGeom>
              <a:blipFill>
                <a:blip r:embed="rId2"/>
                <a:stretch>
                  <a:fillRect l="-549" t="-725" r="-549" b="-101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6308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6C0CB-7C4A-A81F-2E19-C7B5ED559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E36147-DA15-ADBE-EE46-3CB46D28E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546" y="1160463"/>
            <a:ext cx="1647408" cy="469916"/>
          </a:xfr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/>
          <a:p>
            <a:r>
              <a:rPr lang="en-US" dirty="0"/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6362986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81760-277E-03F8-B0BC-1672DB239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A588AE-B725-C9EC-EA80-4A0175619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539" y="1160463"/>
            <a:ext cx="1763422" cy="469916"/>
          </a:xfr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/>
          <a:p>
            <a:r>
              <a:rPr lang="en-US" dirty="0"/>
              <a:t>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8F5BFCC-2A02-05D6-D234-3C95A7950E22}"/>
                  </a:ext>
                </a:extLst>
              </p:cNvPr>
              <p:cNvSpPr txBox="1"/>
              <p:nvPr/>
            </p:nvSpPr>
            <p:spPr>
              <a:xfrm>
                <a:off x="3971925" y="1912501"/>
                <a:ext cx="7740650" cy="806648"/>
              </a:xfrm>
              <a:prstGeom prst="roundRect">
                <a:avLst>
                  <a:gd name="adj" fmla="val 8908"/>
                </a:avLst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rPr>
                  <a:t>If one root of the quadratic equations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+mn-cs"/>
                          </a:rPr>
                          <m:t>𝑥</m:t>
                        </m:r>
                      </m:e>
                      <m:sup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+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𝑎𝑥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+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𝑏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=0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Arial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+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𝑏𝑥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+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𝑎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=0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Arial" pitchFamily="34" charset="0"/>
                  </a:rPr>
                  <a:t> is common, then </a:t>
                </a:r>
                <a14:m>
                  <m:oMath xmlns:m="http://schemas.openxmlformats.org/officeDocument/2006/math"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𝑎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+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𝑏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Arial" pitchFamily="34" charset="0"/>
                  </a:rPr>
                  <a:t> is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8F5BFCC-2A02-05D6-D234-3C95A7950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925" y="1912501"/>
                <a:ext cx="7740650" cy="806648"/>
              </a:xfrm>
              <a:prstGeom prst="roundRect">
                <a:avLst>
                  <a:gd name="adj" fmla="val 8908"/>
                </a:avLst>
              </a:prstGeom>
              <a:blipFill>
                <a:blip r:embed="rId2"/>
                <a:stretch>
                  <a:fillRect l="-549" t="-725" b="-101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2D717F-351A-9EE4-9DE8-577239F11899}"/>
                  </a:ext>
                </a:extLst>
              </p:cNvPr>
              <p:cNvSpPr txBox="1"/>
              <p:nvPr/>
            </p:nvSpPr>
            <p:spPr>
              <a:xfrm>
                <a:off x="3971923" y="4228862"/>
                <a:ext cx="3600000" cy="476726"/>
              </a:xfrm>
              <a:prstGeom prst="roundRect">
                <a:avLst/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533400" marR="0" lvl="0" indent="-53340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533400" algn="l"/>
                  </a:tabLst>
                  <a:defRPr/>
                </a:pP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rPr>
                  <a:t>(a)	</a:t>
                </a:r>
                <a14:m>
                  <m:oMath xmlns:m="http://schemas.openxmlformats.org/officeDocument/2006/math">
                    <m:r>
                      <a:rPr kumimoji="0" lang="en-GB" sz="2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</m:oMath>
                </a14:m>
                <a:endParaRPr kumimoji="0" lang="en-GB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2D717F-351A-9EE4-9DE8-577239F11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923" y="4228862"/>
                <a:ext cx="3600000" cy="476726"/>
              </a:xfrm>
              <a:prstGeom prst="roundRect">
                <a:avLst/>
              </a:prstGeom>
              <a:blipFill>
                <a:blip r:embed="rId3"/>
                <a:stretch>
                  <a:fillRect l="-1174" b="-168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CC3F6C-F588-ED31-41EB-02BBCC29FE5B}"/>
                  </a:ext>
                </a:extLst>
              </p:cNvPr>
              <p:cNvSpPr txBox="1"/>
              <p:nvPr/>
            </p:nvSpPr>
            <p:spPr>
              <a:xfrm>
                <a:off x="8112575" y="4228862"/>
                <a:ext cx="3600000" cy="476726"/>
              </a:xfrm>
              <a:prstGeom prst="roundRect">
                <a:avLst/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533400" marR="0" lvl="0" indent="-53340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rPr>
                  <a:t>(b)	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endParaRPr kumimoji="0" lang="en-GB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CC3F6C-F588-ED31-41EB-02BBCC29F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575" y="4228862"/>
                <a:ext cx="3600000" cy="476726"/>
              </a:xfrm>
              <a:prstGeom prst="roundRect">
                <a:avLst/>
              </a:prstGeom>
              <a:blipFill>
                <a:blip r:embed="rId4"/>
                <a:stretch>
                  <a:fillRect l="-1007" b="-168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66AF63-9B65-9BDB-95AA-8127854FB7D1}"/>
                  </a:ext>
                </a:extLst>
              </p:cNvPr>
              <p:cNvSpPr txBox="1"/>
              <p:nvPr/>
            </p:nvSpPr>
            <p:spPr>
              <a:xfrm>
                <a:off x="3971924" y="5233043"/>
                <a:ext cx="3600000" cy="476726"/>
              </a:xfrm>
              <a:prstGeom prst="roundRect">
                <a:avLst/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533400" marR="0" lvl="0" indent="-53340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rPr>
                  <a:t>(c)	</a:t>
                </a:r>
                <a14:m>
                  <m:oMath xmlns:m="http://schemas.openxmlformats.org/officeDocument/2006/math"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2</m:t>
                    </m:r>
                  </m:oMath>
                </a14:m>
                <a:endParaRPr kumimoji="0" lang="en-GB" sz="22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"/>
                  <a:ea typeface="Verdana" panose="020B0604030504040204" pitchFamily="34" charset="0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66AF63-9B65-9BDB-95AA-8127854FB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924" y="5233043"/>
                <a:ext cx="3600000" cy="476726"/>
              </a:xfrm>
              <a:prstGeom prst="roundRect">
                <a:avLst/>
              </a:prstGeom>
              <a:blipFill>
                <a:blip r:embed="rId5"/>
                <a:stretch>
                  <a:fillRect l="-1174" b="-168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E5E45E-63D8-945D-FCDF-816B337A3A45}"/>
                  </a:ext>
                </a:extLst>
              </p:cNvPr>
              <p:cNvSpPr txBox="1"/>
              <p:nvPr/>
            </p:nvSpPr>
            <p:spPr>
              <a:xfrm>
                <a:off x="8112575" y="5233043"/>
                <a:ext cx="3600000" cy="476726"/>
              </a:xfrm>
              <a:prstGeom prst="roundRect">
                <a:avLst/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533400" lvl="0" indent="-533400">
                  <a:defRPr/>
                </a:pP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rPr>
                  <a:t>(d)	</a:t>
                </a:r>
                <a14:m>
                  <m:oMath xmlns:m="http://schemas.openxmlformats.org/officeDocument/2006/math">
                    <m:r>
                      <a:rPr kumimoji="0" lang="en-GB" sz="2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0</m:t>
                    </m:r>
                  </m:oMath>
                </a14:m>
                <a:endParaRPr kumimoji="0" lang="en-GB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E5E45E-63D8-945D-FCDF-816B337A3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575" y="5233043"/>
                <a:ext cx="3600000" cy="476726"/>
              </a:xfrm>
              <a:prstGeom prst="roundRect">
                <a:avLst/>
              </a:prstGeom>
              <a:blipFill>
                <a:blip r:embed="rId6"/>
                <a:stretch>
                  <a:fillRect l="-1007" b="-168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4808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98C52-754C-41E6-A862-7DD526F4D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E70A7D-958A-5712-A168-6E175617A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539" y="1160463"/>
            <a:ext cx="1763422" cy="469916"/>
          </a:xfr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/>
          <a:p>
            <a:r>
              <a:rPr lang="en-US" dirty="0"/>
              <a:t>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370FD1-75C9-0657-757E-B7A0BE953188}"/>
                  </a:ext>
                </a:extLst>
              </p:cNvPr>
              <p:cNvSpPr txBox="1"/>
              <p:nvPr/>
            </p:nvSpPr>
            <p:spPr>
              <a:xfrm>
                <a:off x="3971925" y="1912501"/>
                <a:ext cx="7740650" cy="806648"/>
              </a:xfrm>
              <a:prstGeom prst="roundRect">
                <a:avLst>
                  <a:gd name="adj" fmla="val 8908"/>
                </a:avLst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rPr>
                  <a:t>If one root of the quadratic equations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+mn-cs"/>
                          </a:rPr>
                          <m:t>𝑥</m:t>
                        </m:r>
                      </m:e>
                      <m:sup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+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𝑎𝑥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+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𝑏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=0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Arial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+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𝑏𝑥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+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𝑎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=0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Arial" pitchFamily="34" charset="0"/>
                  </a:rPr>
                  <a:t> is common, then </a:t>
                </a:r>
                <a14:m>
                  <m:oMath xmlns:m="http://schemas.openxmlformats.org/officeDocument/2006/math"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𝑎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+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𝑏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Arial" pitchFamily="34" charset="0"/>
                  </a:rPr>
                  <a:t> is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370FD1-75C9-0657-757E-B7A0BE953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925" y="1912501"/>
                <a:ext cx="7740650" cy="806648"/>
              </a:xfrm>
              <a:prstGeom prst="roundRect">
                <a:avLst>
                  <a:gd name="adj" fmla="val 8908"/>
                </a:avLst>
              </a:prstGeom>
              <a:blipFill>
                <a:blip r:embed="rId2"/>
                <a:stretch>
                  <a:fillRect l="-549" t="-725" b="-101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9966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F8322-93C2-6922-BC02-61911B05B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B54721-5A52-6376-F75E-5F13FA903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546" y="1160463"/>
            <a:ext cx="1647408" cy="469916"/>
          </a:xfr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/>
          <a:p>
            <a:r>
              <a:rPr lang="en-US" dirty="0"/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3629593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AC245-9EB7-2C5B-5695-6F4600DBB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2F001C-6853-CEE8-39E5-4C9129F9D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539" y="1160463"/>
            <a:ext cx="1763422" cy="469916"/>
          </a:xfr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/>
          <a:p>
            <a:r>
              <a:rPr lang="en-US" dirty="0"/>
              <a:t>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EE1964-A6C2-6D40-755E-339FD68E5AEB}"/>
                  </a:ext>
                </a:extLst>
              </p:cNvPr>
              <p:cNvSpPr txBox="1"/>
              <p:nvPr/>
            </p:nvSpPr>
            <p:spPr>
              <a:xfrm>
                <a:off x="3971925" y="1912501"/>
                <a:ext cx="7740650" cy="1161574"/>
              </a:xfrm>
              <a:prstGeom prst="roundRect">
                <a:avLst>
                  <a:gd name="adj" fmla="val 8908"/>
                </a:avLst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rPr>
                  <a:t>The equations </a:t>
                </a:r>
                <a14:m>
                  <m:oMath xmlns:m="http://schemas.openxmlformats.org/officeDocument/2006/math"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2</m:t>
                    </m:r>
                    <m:sSup>
                      <m:sSupPr>
                        <m:ctrlP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+mn-cs"/>
                          </a:rPr>
                          <m:t>𝑥</m:t>
                        </m:r>
                      </m:e>
                      <m:sup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+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𝑎𝑥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−2=0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Arial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+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𝑥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+2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𝑎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=0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Arial" pitchFamily="34" charset="0"/>
                  </a:rPr>
                  <a:t> have exactly one common root.</a:t>
                </a:r>
                <a:r>
                  <a:rPr kumimoji="0" lang="en-US" sz="2200" b="0" i="0" u="none" strike="noStrike" kern="1200" cap="none" spc="0" normalizeH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Arial" pitchFamily="34" charset="0"/>
                  </a:rPr>
                  <a:t> If </a:t>
                </a:r>
                <a14:m>
                  <m:oMath xmlns:m="http://schemas.openxmlformats.org/officeDocument/2006/math">
                    <m:r>
                      <a:rPr kumimoji="0" lang="en-GB" sz="22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𝑎</m:t>
                    </m:r>
                    <m:r>
                      <a:rPr kumimoji="0" lang="en-GB" sz="22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≠0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Arial" pitchFamily="34" charset="0"/>
                  </a:rPr>
                  <a:t>, then one of the roots of the equation </a:t>
                </a:r>
                <a14:m>
                  <m:oMath xmlns:m="http://schemas.openxmlformats.org/officeDocument/2006/math"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𝑎</m:t>
                    </m:r>
                    <m:sSup>
                      <m:sSupPr>
                        <m:ctrlP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−4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𝑥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−2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𝑎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=0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Arial" pitchFamily="34" charset="0"/>
                  </a:rPr>
                  <a:t> is: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EE1964-A6C2-6D40-755E-339FD68E5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925" y="1912501"/>
                <a:ext cx="7740650" cy="1161574"/>
              </a:xfrm>
              <a:prstGeom prst="roundRect">
                <a:avLst>
                  <a:gd name="adj" fmla="val 8908"/>
                </a:avLst>
              </a:prstGeom>
              <a:blipFill>
                <a:blip r:embed="rId2"/>
                <a:stretch>
                  <a:fillRect l="-392" r="-471" b="-61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6CE300-B91C-77D7-CA84-B4E4E79CBD74}"/>
                  </a:ext>
                </a:extLst>
              </p:cNvPr>
              <p:cNvSpPr txBox="1"/>
              <p:nvPr/>
            </p:nvSpPr>
            <p:spPr>
              <a:xfrm>
                <a:off x="3971923" y="4228862"/>
                <a:ext cx="3600000" cy="476726"/>
              </a:xfrm>
              <a:prstGeom prst="roundRect">
                <a:avLst/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533400" marR="0" lvl="0" indent="-53340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533400" algn="l"/>
                  </a:tabLst>
                  <a:defRPr/>
                </a:pP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rPr>
                  <a:t>(a)	</a:t>
                </a:r>
                <a14:m>
                  <m:oMath xmlns:m="http://schemas.openxmlformats.org/officeDocument/2006/math">
                    <m:r>
                      <a:rPr kumimoji="0" lang="en-GB" sz="2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</m:oMath>
                </a14:m>
                <a:endParaRPr kumimoji="0" lang="en-GB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6CE300-B91C-77D7-CA84-B4E4E79CB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923" y="4228862"/>
                <a:ext cx="3600000" cy="476726"/>
              </a:xfrm>
              <a:prstGeom prst="roundRect">
                <a:avLst/>
              </a:prstGeom>
              <a:blipFill>
                <a:blip r:embed="rId3"/>
                <a:stretch>
                  <a:fillRect l="-1174" b="-168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5EA72D-D64C-1653-3DD8-6C547388AA4C}"/>
                  </a:ext>
                </a:extLst>
              </p:cNvPr>
              <p:cNvSpPr txBox="1"/>
              <p:nvPr/>
            </p:nvSpPr>
            <p:spPr>
              <a:xfrm>
                <a:off x="8112575" y="4228862"/>
                <a:ext cx="3600000" cy="482118"/>
              </a:xfrm>
              <a:prstGeom prst="roundRect">
                <a:avLst/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533400" marR="0" lvl="0" indent="-53340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rPr>
                  <a:t>(b)	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−2</m:t>
                    </m:r>
                  </m:oMath>
                </a14:m>
                <a:endParaRPr kumimoji="0" lang="en-GB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5EA72D-D64C-1653-3DD8-6C547388A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575" y="4228862"/>
                <a:ext cx="3600000" cy="482118"/>
              </a:xfrm>
              <a:prstGeom prst="roundRect">
                <a:avLst/>
              </a:prstGeom>
              <a:blipFill>
                <a:blip r:embed="rId4"/>
                <a:stretch>
                  <a:fillRect l="-1007" b="-1547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C7143A-F366-7896-6387-5D216387040E}"/>
                  </a:ext>
                </a:extLst>
              </p:cNvPr>
              <p:cNvSpPr txBox="1"/>
              <p:nvPr/>
            </p:nvSpPr>
            <p:spPr>
              <a:xfrm>
                <a:off x="3971924" y="5233043"/>
                <a:ext cx="3600000" cy="700901"/>
              </a:xfrm>
              <a:prstGeom prst="roundRect">
                <a:avLst/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533400" marR="0" lvl="0" indent="-53340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rPr>
                  <a:t>(c)	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+mn-cs"/>
                          </a:rPr>
                          <m:t>−4+</m:t>
                        </m:r>
                        <m:rad>
                          <m:radPr>
                            <m:degHide m:val="on"/>
                            <m:ctrlPr>
                              <a:rPr kumimoji="0" lang="en-GB" sz="2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+mn-cs"/>
                              </a:rPr>
                            </m:ctrlPr>
                          </m:radPr>
                          <m:deg/>
                          <m:e>
                            <m:r>
                              <a:rPr kumimoji="0" lang="en-GB" sz="2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+mn-cs"/>
                              </a:rPr>
                              <m:t>22</m:t>
                            </m:r>
                          </m:e>
                        </m:rad>
                      </m:num>
                      <m:den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+mn-cs"/>
                          </a:rPr>
                          <m:t>3</m:t>
                        </m:r>
                      </m:den>
                    </m:f>
                  </m:oMath>
                </a14:m>
                <a:endParaRPr kumimoji="0" lang="en-GB" sz="22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"/>
                  <a:ea typeface="Verdana" panose="020B0604030504040204" pitchFamily="34" charset="0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C7143A-F366-7896-6387-5D2163870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924" y="5233043"/>
                <a:ext cx="3600000" cy="700901"/>
              </a:xfrm>
              <a:prstGeom prst="roundRect">
                <a:avLst/>
              </a:prstGeom>
              <a:blipFill>
                <a:blip r:embed="rId5"/>
                <a:stretch>
                  <a:fillRect l="-839" b="-8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00B8C4-2F37-BCB8-E922-7F5D1431C607}"/>
                  </a:ext>
                </a:extLst>
              </p:cNvPr>
              <p:cNvSpPr txBox="1"/>
              <p:nvPr/>
            </p:nvSpPr>
            <p:spPr>
              <a:xfrm>
                <a:off x="8112575" y="5233043"/>
                <a:ext cx="3600000" cy="700901"/>
              </a:xfrm>
              <a:prstGeom prst="roundRect">
                <a:avLst/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533400" lvl="0" indent="-533400">
                  <a:defRPr/>
                </a:pPr>
                <a:r>
                  <a:rPr kumimoji="0" lang="en-GB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rPr>
                  <a:t>(d)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GB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i="1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e>
                        </m:rad>
                      </m:num>
                      <m:den>
                        <m:r>
                          <a:rPr lang="en-GB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kumimoji="0" lang="en-GB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Verdana" panose="020B0604030504040204" pitchFamily="34" charset="0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00B8C4-2F37-BCB8-E922-7F5D1431C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575" y="5233043"/>
                <a:ext cx="3600000" cy="700901"/>
              </a:xfrm>
              <a:prstGeom prst="roundRect">
                <a:avLst/>
              </a:prstGeom>
              <a:blipFill>
                <a:blip r:embed="rId6"/>
                <a:stretch>
                  <a:fillRect l="-839" b="-8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655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6A441-4B06-C101-4462-5A642C90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FF2150-6456-C876-46E2-8E46DCFFE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539" y="1160463"/>
            <a:ext cx="1763422" cy="469916"/>
          </a:xfr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/>
          <a:p>
            <a:r>
              <a:rPr lang="en-US" dirty="0"/>
              <a:t>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97888C-2866-B65E-FCB6-921D8AFDBA43}"/>
                  </a:ext>
                </a:extLst>
              </p:cNvPr>
              <p:cNvSpPr txBox="1"/>
              <p:nvPr/>
            </p:nvSpPr>
            <p:spPr>
              <a:xfrm>
                <a:off x="3971925" y="1912501"/>
                <a:ext cx="7740650" cy="1161574"/>
              </a:xfrm>
              <a:prstGeom prst="roundRect">
                <a:avLst>
                  <a:gd name="adj" fmla="val 8908"/>
                </a:avLst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+mn-cs"/>
                  </a:rPr>
                  <a:t>The equations </a:t>
                </a:r>
                <a14:m>
                  <m:oMath xmlns:m="http://schemas.openxmlformats.org/officeDocument/2006/math"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2</m:t>
                    </m:r>
                    <m:sSup>
                      <m:sSupPr>
                        <m:ctrlP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+mn-cs"/>
                          </a:rPr>
                          <m:t>𝑥</m:t>
                        </m:r>
                      </m:e>
                      <m:sup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+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𝑎𝑥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+mn-cs"/>
                      </a:rPr>
                      <m:t>−2=0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Arial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+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𝑥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+2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𝑎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=0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Arial" pitchFamily="34" charset="0"/>
                  </a:rPr>
                  <a:t> have exactly one common root.</a:t>
                </a:r>
                <a:r>
                  <a:rPr kumimoji="0" lang="en-US" sz="2200" b="0" i="0" u="none" strike="noStrike" kern="1200" cap="none" spc="0" normalizeH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Arial" pitchFamily="34" charset="0"/>
                  </a:rPr>
                  <a:t> If </a:t>
                </a:r>
                <a14:m>
                  <m:oMath xmlns:m="http://schemas.openxmlformats.org/officeDocument/2006/math">
                    <m:r>
                      <a:rPr kumimoji="0" lang="en-GB" sz="22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𝑎</m:t>
                    </m:r>
                    <m:r>
                      <a:rPr kumimoji="0" lang="en-GB" sz="22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≠0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Arial" pitchFamily="34" charset="0"/>
                  </a:rPr>
                  <a:t>, then one of the roots of the equation </a:t>
                </a:r>
                <a14:m>
                  <m:oMath xmlns:m="http://schemas.openxmlformats.org/officeDocument/2006/math"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𝑎</m:t>
                    </m:r>
                    <m:sSup>
                      <m:sSupPr>
                        <m:ctrlP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kumimoji="0" lang="en-GB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−4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𝑥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−2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𝑎</m:t>
                    </m:r>
                    <m:r>
                      <a:rPr kumimoji="0" lang="en-GB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Verdana" panose="020B0604030504040204" pitchFamily="34" charset="0"/>
                        <a:cs typeface="Arial" pitchFamily="34" charset="0"/>
                      </a:rPr>
                      <m:t>=0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Verdana" panose="020B0604030504040204" pitchFamily="34" charset="0"/>
                    <a:cs typeface="Arial" pitchFamily="34" charset="0"/>
                  </a:rPr>
                  <a:t> is: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97888C-2866-B65E-FCB6-921D8AFDB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925" y="1912501"/>
                <a:ext cx="7740650" cy="1161574"/>
              </a:xfrm>
              <a:prstGeom prst="roundRect">
                <a:avLst>
                  <a:gd name="adj" fmla="val 8908"/>
                </a:avLst>
              </a:prstGeom>
              <a:blipFill>
                <a:blip r:embed="rId2"/>
                <a:stretch>
                  <a:fillRect l="-392" r="-471" b="-61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0838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DB06C-9CC8-ED1A-74C8-09CC32364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975FFA-4664-B40B-9AF5-7D71DCCAB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546" y="1160463"/>
            <a:ext cx="1647408" cy="469916"/>
          </a:xfr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/>
          <a:p>
            <a:r>
              <a:rPr lang="en-US" dirty="0"/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1786874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5C2E5-D5C0-933A-1720-AD074BA9357D}"/>
              </a:ext>
            </a:extLst>
          </p:cNvPr>
          <p:cNvSpPr txBox="1">
            <a:spLocks/>
          </p:cNvSpPr>
          <p:nvPr/>
        </p:nvSpPr>
        <p:spPr>
          <a:xfrm>
            <a:off x="7018568" y="1160463"/>
            <a:ext cx="1647408" cy="46991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Solution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D62528-A0E0-C8F8-C107-FFD60951A2EB}"/>
                  </a:ext>
                </a:extLst>
              </p:cNvPr>
              <p:cNvSpPr txBox="1"/>
              <p:nvPr/>
            </p:nvSpPr>
            <p:spPr>
              <a:xfrm>
                <a:off x="3971925" y="1955800"/>
                <a:ext cx="7740650" cy="806648"/>
              </a:xfrm>
              <a:prstGeom prst="roundRect">
                <a:avLst>
                  <a:gd name="adj" fmla="val 8908"/>
                </a:avLst>
              </a:prstGeo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>
                <a:defPPr>
                  <a:defRPr lang="en-US"/>
                </a:defPPr>
                <a:lvl1pPr algn="just">
                  <a:defRPr sz="2200">
                    <a:solidFill>
                      <a:schemeClr val="bg1"/>
                    </a:solidFill>
                    <a:ea typeface="Verdana" panose="020B0604030504040204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defRPr/>
                </a:pPr>
                <a:r>
                  <a:rPr lang="en-US" dirty="0">
                    <a:solidFill>
                      <a:prstClr val="white"/>
                    </a:solidFill>
                    <a:cs typeface="Arial" pitchFamily="34" charset="0"/>
                  </a:rPr>
                  <a:t>If given is the graph of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𝑦</m:t>
                    </m:r>
                    <m:r>
                      <a:rPr lang="en-US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r>
                      <a:rPr lang="en-US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  <m:sSup>
                      <m:sSupPr>
                        <m:ctrlPr>
                          <a:rPr lang="en-US" i="1" dirty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𝑏𝑥</m:t>
                    </m:r>
                    <m:r>
                      <a:rPr lang="en-US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+</m:t>
                    </m:r>
                    <m:r>
                      <a:rPr lang="en-US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𝑐</m:t>
                    </m:r>
                  </m:oMath>
                </a14:m>
                <a:r>
                  <a:rPr lang="en-US" dirty="0">
                    <a:solidFill>
                      <a:prstClr val="white"/>
                    </a:solidFill>
                    <a:cs typeface="Arial" pitchFamily="34" charset="0"/>
                  </a:rPr>
                  <a:t>, find the sign of ′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prstClr val="white"/>
                    </a:solidFill>
                    <a:cs typeface="Arial" pitchFamily="34" charset="0"/>
                  </a:rPr>
                  <a:t>′ and ′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Arial" pitchFamily="34" charset="0"/>
                      </a:rPr>
                      <m:t>𝑐</m:t>
                    </m:r>
                  </m:oMath>
                </a14:m>
                <a:r>
                  <a:rPr lang="en-US" dirty="0">
                    <a:solidFill>
                      <a:prstClr val="white"/>
                    </a:solidFill>
                    <a:cs typeface="Arial" pitchFamily="34" charset="0"/>
                  </a:rPr>
                  <a:t>′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D62528-A0E0-C8F8-C107-FFD60951A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925" y="1955800"/>
                <a:ext cx="7740650" cy="806648"/>
              </a:xfrm>
              <a:prstGeom prst="roundRect">
                <a:avLst>
                  <a:gd name="adj" fmla="val 8908"/>
                </a:avLst>
              </a:prstGeom>
              <a:blipFill>
                <a:blip r:embed="rId2"/>
                <a:stretch>
                  <a:fillRect l="-549" r="-549" b="-101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3998EC6-637B-B31A-B5D0-A1C4E8623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923" y="3224903"/>
            <a:ext cx="3953652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43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34EC3078-0B08-9E56-3E64-70CB58D56A3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979311" y="2024063"/>
                <a:ext cx="7733263" cy="817600"/>
              </a:xfr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pPr algn="l"/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The value of the expression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𝑥</m:t>
                    </m:r>
                    <m:r>
                      <a:rPr lang="en-US" sz="2200" b="0" i="1" baseline="30000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2</m:t>
                    </m:r>
                    <m:r>
                      <a:rPr lang="en-US" sz="22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 + 2</m:t>
                    </m:r>
                    <m:r>
                      <a:rPr lang="en-US" sz="22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𝑏𝑥</m:t>
                    </m:r>
                    <m:r>
                      <a:rPr lang="en-US" sz="22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 + </m:t>
                    </m:r>
                    <m:r>
                      <a:rPr lang="en-US" sz="22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𝑐</m:t>
                    </m:r>
                  </m:oMath>
                </a14:m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 will be positive for all real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𝑥</m:t>
                    </m:r>
                  </m:oMath>
                </a14:m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 if  :</a:t>
                </a:r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34EC3078-0B08-9E56-3E64-70CB58D56A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979311" y="2024063"/>
                <a:ext cx="7733263" cy="817600"/>
              </a:xfrm>
              <a:blipFill>
                <a:blip r:embed="rId2"/>
                <a:stretch>
                  <a:fillRect l="-314" r="-78" b="-719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3">
            <a:extLst>
              <a:ext uri="{FF2B5EF4-FFF2-40B4-BE49-F238E27FC236}">
                <a16:creationId xmlns:a16="http://schemas.microsoft.com/office/drawing/2014/main" id="{350F1E83-A87C-61F0-08DB-AED03F9BD06A}"/>
              </a:ext>
            </a:extLst>
          </p:cNvPr>
          <p:cNvSpPr txBox="1">
            <a:spLocks/>
          </p:cNvSpPr>
          <p:nvPr/>
        </p:nvSpPr>
        <p:spPr>
          <a:xfrm>
            <a:off x="6906621" y="1160463"/>
            <a:ext cx="1871267" cy="46991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Verdana"/>
                <a:ea typeface="Verdana"/>
              </a:rPr>
              <a:t>Question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3">
                <a:extLst>
                  <a:ext uri="{FF2B5EF4-FFF2-40B4-BE49-F238E27FC236}">
                    <a16:creationId xmlns:a16="http://schemas.microsoft.com/office/drawing/2014/main" id="{17A14CD3-B7ED-16A5-56DF-8A218063CA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79312" y="3294063"/>
                <a:ext cx="3669262" cy="480487"/>
              </a:xfrm>
              <a:prstGeom prst="roundRect">
                <a:avLst/>
              </a:prstGeom>
              <a:solidFill>
                <a:srgbClr val="7C7E7E"/>
              </a:solidFill>
              <a:ln w="12700" cap="flat" cmpd="sng" algn="ctr">
                <a:noFill/>
                <a:prstDash val="solid"/>
                <a:miter lim="800000"/>
              </a:ln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n-US" sz="2400" b="1" kern="1200" dirty="0">
                    <a:solidFill>
                      <a:srgbClr val="FFFF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GB" sz="2200" b="0" dirty="0">
                    <a:solidFill>
                      <a:srgbClr val="FFFFFF"/>
                    </a:solidFill>
                    <a:latin typeface="+mn-lt"/>
                  </a:rPr>
                  <a:t>A. </a:t>
                </a:r>
                <a14:m>
                  <m:oMath xmlns:m="http://schemas.openxmlformats.org/officeDocument/2006/math">
                    <m:r>
                      <a:rPr lang="en-GB" sz="22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200" b="0" i="1" baseline="30000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2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− 4</m:t>
                    </m:r>
                    <m:r>
                      <a:rPr lang="en-GB" sz="22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2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&gt; 0</m:t>
                    </m:r>
                  </m:oMath>
                </a14:m>
                <a:endParaRPr lang="en-GB" sz="2200" dirty="0">
                  <a:solidFill>
                    <a:srgbClr val="FFFFFF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" name="Title 3">
                <a:extLst>
                  <a:ext uri="{FF2B5EF4-FFF2-40B4-BE49-F238E27FC236}">
                    <a16:creationId xmlns:a16="http://schemas.microsoft.com/office/drawing/2014/main" id="{17A14CD3-B7ED-16A5-56DF-8A218063C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312" y="3294063"/>
                <a:ext cx="3669262" cy="480487"/>
              </a:xfrm>
              <a:prstGeom prst="roundRect">
                <a:avLst/>
              </a:prstGeom>
              <a:blipFill>
                <a:blip r:embed="rId3"/>
                <a:stretch>
                  <a:fillRect l="-988" t="-2381" b="-16667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3">
                <a:extLst>
                  <a:ext uri="{FF2B5EF4-FFF2-40B4-BE49-F238E27FC236}">
                    <a16:creationId xmlns:a16="http://schemas.microsoft.com/office/drawing/2014/main" id="{9B0BD54D-FD1C-587D-5479-E541C304B6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43312" y="3294063"/>
                <a:ext cx="3669262" cy="480487"/>
              </a:xfrm>
              <a:prstGeom prst="roundRect">
                <a:avLst/>
              </a:prstGeom>
              <a:solidFill>
                <a:srgbClr val="7C7E7E"/>
              </a:solidFill>
              <a:ln w="12700" cap="flat" cmpd="sng" algn="ctr">
                <a:noFill/>
                <a:prstDash val="solid"/>
                <a:miter lim="800000"/>
              </a:ln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n-US" sz="2400" b="1" kern="1200" dirty="0">
                    <a:solidFill>
                      <a:srgbClr val="FFFF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GB" sz="2200" b="0" dirty="0">
                    <a:solidFill>
                      <a:srgbClr val="FFFFFF"/>
                    </a:solidFill>
                    <a:latin typeface="+mn-lt"/>
                  </a:rPr>
                  <a:t>B. </a:t>
                </a:r>
                <a14:m>
                  <m:oMath xmlns:m="http://schemas.openxmlformats.org/officeDocument/2006/math">
                    <m:r>
                      <a:rPr lang="en-GB" sz="22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200" b="0" i="1" baseline="30000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2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− 4</m:t>
                    </m:r>
                    <m:r>
                      <a:rPr lang="en-GB" sz="22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2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&lt; 0</m:t>
                    </m:r>
                  </m:oMath>
                </a14:m>
                <a:endParaRPr lang="en-GB" sz="2200" dirty="0">
                  <a:solidFill>
                    <a:srgbClr val="FFFFFF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5" name="Title 3">
                <a:extLst>
                  <a:ext uri="{FF2B5EF4-FFF2-40B4-BE49-F238E27FC236}">
                    <a16:creationId xmlns:a16="http://schemas.microsoft.com/office/drawing/2014/main" id="{9B0BD54D-FD1C-587D-5479-E541C304B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312" y="3294063"/>
                <a:ext cx="3669262" cy="480487"/>
              </a:xfrm>
              <a:prstGeom prst="roundRect">
                <a:avLst/>
              </a:prstGeom>
              <a:blipFill>
                <a:blip r:embed="rId4"/>
                <a:stretch>
                  <a:fillRect l="-1153" t="-2381" b="-16667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3">
                <a:extLst>
                  <a:ext uri="{FF2B5EF4-FFF2-40B4-BE49-F238E27FC236}">
                    <a16:creationId xmlns:a16="http://schemas.microsoft.com/office/drawing/2014/main" id="{76263832-ACAC-24B4-8252-A06F2F7FCD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79312" y="4288243"/>
                <a:ext cx="3669262" cy="439269"/>
              </a:xfrm>
              <a:prstGeom prst="roundRect">
                <a:avLst/>
              </a:prstGeom>
              <a:solidFill>
                <a:srgbClr val="7C7E7E"/>
              </a:solidFill>
              <a:ln w="12700" cap="flat" cmpd="sng" algn="ctr">
                <a:noFill/>
                <a:prstDash val="solid"/>
                <a:miter lim="800000"/>
              </a:ln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n-US" sz="2400" b="1" kern="1200" dirty="0">
                    <a:solidFill>
                      <a:srgbClr val="FFFF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GB" sz="2200" b="0" dirty="0">
                    <a:solidFill>
                      <a:srgbClr val="FFFFFF"/>
                    </a:solidFill>
                    <a:latin typeface="+mn-lt"/>
                  </a:rPr>
                  <a:t>C. </a:t>
                </a:r>
                <a14:m>
                  <m:oMath xmlns:m="http://schemas.openxmlformats.org/officeDocument/2006/math">
                    <m:r>
                      <a:rPr lang="en-GB" sz="22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200" b="0" i="1" baseline="30000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2 </m:t>
                    </m:r>
                    <m:r>
                      <a:rPr lang="en-GB" sz="22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&lt; </m:t>
                    </m:r>
                    <m:r>
                      <a:rPr lang="en-GB" sz="22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GB" sz="2200" dirty="0">
                  <a:solidFill>
                    <a:srgbClr val="FFFFFF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6" name="Title 3">
                <a:extLst>
                  <a:ext uri="{FF2B5EF4-FFF2-40B4-BE49-F238E27FC236}">
                    <a16:creationId xmlns:a16="http://schemas.microsoft.com/office/drawing/2014/main" id="{76263832-ACAC-24B4-8252-A06F2F7FC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312" y="4288243"/>
                <a:ext cx="3669262" cy="439269"/>
              </a:xfrm>
              <a:prstGeom prst="roundRect">
                <a:avLst/>
              </a:prstGeom>
              <a:blipFill>
                <a:blip r:embed="rId5"/>
                <a:stretch>
                  <a:fillRect l="-1153" t="-7792" b="-1818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3">
                <a:extLst>
                  <a:ext uri="{FF2B5EF4-FFF2-40B4-BE49-F238E27FC236}">
                    <a16:creationId xmlns:a16="http://schemas.microsoft.com/office/drawing/2014/main" id="{513E7ACE-29D7-7FA4-71FD-FDECF4DFDB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43312" y="4288243"/>
                <a:ext cx="3669262" cy="480487"/>
              </a:xfrm>
              <a:prstGeom prst="roundRect">
                <a:avLst/>
              </a:prstGeom>
              <a:solidFill>
                <a:srgbClr val="7C7E7E"/>
              </a:solidFill>
              <a:ln w="12700" cap="flat" cmpd="sng" algn="ctr">
                <a:noFill/>
                <a:prstDash val="solid"/>
                <a:miter lim="800000"/>
              </a:ln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n-US" sz="2400" b="1" kern="1200" dirty="0">
                    <a:solidFill>
                      <a:srgbClr val="FFFF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GB" sz="2200" b="0" dirty="0">
                    <a:solidFill>
                      <a:srgbClr val="FFFFFF"/>
                    </a:solidFill>
                    <a:latin typeface="+mn-lt"/>
                  </a:rPr>
                  <a:t>D. </a:t>
                </a:r>
                <a14:m>
                  <m:oMath xmlns:m="http://schemas.openxmlformats.org/officeDocument/2006/math">
                    <m:r>
                      <a:rPr lang="en-GB" sz="22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200" b="0" i="1" baseline="30000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2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en-GB" sz="22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GB" sz="2200" dirty="0">
                  <a:solidFill>
                    <a:srgbClr val="FFFFFF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7" name="Title 3">
                <a:extLst>
                  <a:ext uri="{FF2B5EF4-FFF2-40B4-BE49-F238E27FC236}">
                    <a16:creationId xmlns:a16="http://schemas.microsoft.com/office/drawing/2014/main" id="{513E7ACE-29D7-7FA4-71FD-FDECF4DFD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312" y="4288243"/>
                <a:ext cx="3669262" cy="480487"/>
              </a:xfrm>
              <a:prstGeom prst="roundRect">
                <a:avLst/>
              </a:prstGeom>
              <a:blipFill>
                <a:blip r:embed="rId6"/>
                <a:stretch>
                  <a:fillRect l="-1153" t="-1190" b="-16667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49250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34EC3078-0B08-9E56-3E64-70CB58D56A3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979311" y="2024063"/>
                <a:ext cx="7733263" cy="817600"/>
              </a:xfr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pPr algn="l"/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The value of the expression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 </m:t>
                    </m:r>
                    <m:r>
                      <a:rPr lang="en-US" sz="22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𝑥</m:t>
                    </m:r>
                    <m:r>
                      <a:rPr lang="en-US" sz="2200" b="0" i="1" baseline="30000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2</m:t>
                    </m:r>
                    <m:r>
                      <a:rPr lang="en-US" sz="22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 + 2</m:t>
                    </m:r>
                    <m:r>
                      <a:rPr lang="en-US" sz="22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𝑏𝑥</m:t>
                    </m:r>
                    <m:r>
                      <a:rPr lang="en-US" sz="22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 + </m:t>
                    </m:r>
                    <m:r>
                      <a:rPr lang="en-US" sz="22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𝑐</m:t>
                    </m:r>
                  </m:oMath>
                </a14:m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 will be positive for all real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𝑥</m:t>
                    </m:r>
                  </m:oMath>
                </a14:m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 if  :</a:t>
                </a:r>
                <a:endParaRPr lang="en-US" sz="2200" dirty="0">
                  <a:solidFill>
                    <a:srgbClr val="FFFFFF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34EC3078-0B08-9E56-3E64-70CB58D56A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979311" y="2024063"/>
                <a:ext cx="7733263" cy="817600"/>
              </a:xfrm>
              <a:blipFill>
                <a:blip r:embed="rId2"/>
                <a:stretch>
                  <a:fillRect l="-314" r="-157" b="-719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3">
            <a:extLst>
              <a:ext uri="{FF2B5EF4-FFF2-40B4-BE49-F238E27FC236}">
                <a16:creationId xmlns:a16="http://schemas.microsoft.com/office/drawing/2014/main" id="{350F1E83-A87C-61F0-08DB-AED03F9BD06A}"/>
              </a:ext>
            </a:extLst>
          </p:cNvPr>
          <p:cNvSpPr txBox="1">
            <a:spLocks/>
          </p:cNvSpPr>
          <p:nvPr/>
        </p:nvSpPr>
        <p:spPr>
          <a:xfrm>
            <a:off x="6906621" y="1160463"/>
            <a:ext cx="1871267" cy="46991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Verdana"/>
                <a:ea typeface="Verdana"/>
              </a:rPr>
              <a:t>Question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16">
                <a:extLst>
                  <a:ext uri="{FF2B5EF4-FFF2-40B4-BE49-F238E27FC236}">
                    <a16:creationId xmlns:a16="http://schemas.microsoft.com/office/drawing/2014/main" id="{11096D74-5C29-6E09-657D-2D7EA2218E1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008436" y="2992096"/>
              <a:ext cx="7740652" cy="35001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35163">
                      <a:extLst>
                        <a:ext uri="{9D8B030D-6E8A-4147-A177-3AD203B41FA5}">
                          <a16:colId xmlns:a16="http://schemas.microsoft.com/office/drawing/2014/main" val="1922813368"/>
                        </a:ext>
                      </a:extLst>
                    </a:gridCol>
                    <a:gridCol w="1935163">
                      <a:extLst>
                        <a:ext uri="{9D8B030D-6E8A-4147-A177-3AD203B41FA5}">
                          <a16:colId xmlns:a16="http://schemas.microsoft.com/office/drawing/2014/main" val="3908323620"/>
                        </a:ext>
                      </a:extLst>
                    </a:gridCol>
                    <a:gridCol w="1935163">
                      <a:extLst>
                        <a:ext uri="{9D8B030D-6E8A-4147-A177-3AD203B41FA5}">
                          <a16:colId xmlns:a16="http://schemas.microsoft.com/office/drawing/2014/main" val="507622909"/>
                        </a:ext>
                      </a:extLst>
                    </a:gridCol>
                    <a:gridCol w="1935163">
                      <a:extLst>
                        <a:ext uri="{9D8B030D-6E8A-4147-A177-3AD203B41FA5}">
                          <a16:colId xmlns:a16="http://schemas.microsoft.com/office/drawing/2014/main" val="4092140426"/>
                        </a:ext>
                      </a:extLst>
                    </a:gridCol>
                  </a:tblGrid>
                  <a:tr h="10000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Characteristics of the Function</a:t>
                          </a:r>
                          <a:endParaRPr lang="en-IN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𝒂𝒄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𝒂𝒄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  <a:p>
                          <a:pPr algn="ctr"/>
                          <a:endParaRPr lang="en-IN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𝒂𝒄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  <a:p>
                          <a:pPr algn="ctr"/>
                          <a:endParaRPr lang="en-IN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24062600"/>
                      </a:ext>
                    </a:extLst>
                  </a:tr>
                  <a:tr h="250010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lang="en-IN" sz="2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811233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16">
                <a:extLst>
                  <a:ext uri="{FF2B5EF4-FFF2-40B4-BE49-F238E27FC236}">
                    <a16:creationId xmlns:a16="http://schemas.microsoft.com/office/drawing/2014/main" id="{11096D74-5C29-6E09-657D-2D7EA2218E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5130411"/>
                  </p:ext>
                </p:extLst>
              </p:nvPr>
            </p:nvGraphicFramePr>
            <p:xfrm>
              <a:off x="4008436" y="2992096"/>
              <a:ext cx="7740652" cy="35001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35163">
                      <a:extLst>
                        <a:ext uri="{9D8B030D-6E8A-4147-A177-3AD203B41FA5}">
                          <a16:colId xmlns:a16="http://schemas.microsoft.com/office/drawing/2014/main" val="1922813368"/>
                        </a:ext>
                      </a:extLst>
                    </a:gridCol>
                    <a:gridCol w="1935163">
                      <a:extLst>
                        <a:ext uri="{9D8B030D-6E8A-4147-A177-3AD203B41FA5}">
                          <a16:colId xmlns:a16="http://schemas.microsoft.com/office/drawing/2014/main" val="3908323620"/>
                        </a:ext>
                      </a:extLst>
                    </a:gridCol>
                    <a:gridCol w="1935163">
                      <a:extLst>
                        <a:ext uri="{9D8B030D-6E8A-4147-A177-3AD203B41FA5}">
                          <a16:colId xmlns:a16="http://schemas.microsoft.com/office/drawing/2014/main" val="507622909"/>
                        </a:ext>
                      </a:extLst>
                    </a:gridCol>
                    <a:gridCol w="1935163">
                      <a:extLst>
                        <a:ext uri="{9D8B030D-6E8A-4147-A177-3AD203B41FA5}">
                          <a16:colId xmlns:a16="http://schemas.microsoft.com/office/drawing/2014/main" val="4092140426"/>
                        </a:ext>
                      </a:extLst>
                    </a:gridCol>
                  </a:tblGrid>
                  <a:tr h="10000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Characteristics of the Function</a:t>
                          </a:r>
                          <a:endParaRPr lang="en-IN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14" t="-3049" r="-200943" b="-25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946" t="-3049" r="-101577" b="-25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3049" r="-1258" b="-252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4062600"/>
                      </a:ext>
                    </a:extLst>
                  </a:tr>
                  <a:tr h="25001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4" t="-41119" r="-300943" b="-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8112335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17C7D696-C2C6-10DB-6FC6-1A5B49B91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1627" y="4443616"/>
            <a:ext cx="1620000" cy="162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1EB612-37D3-BEF3-DB7E-F77493D9E7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9162" y="4461384"/>
            <a:ext cx="1620000" cy="162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8F9867-3900-E5B1-5FF3-BED07FA330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8579" y="4594662"/>
            <a:ext cx="1511092" cy="1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362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34EC3078-0B08-9E56-3E64-70CB58D56A3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019952" y="2024063"/>
                <a:ext cx="7460848" cy="687422"/>
              </a:xfr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pPr algn="l"/>
                <a:r>
                  <a:rPr lang="en-US" sz="1800" b="0" dirty="0">
                    <a:solidFill>
                      <a:srgbClr val="FFFFFF"/>
                    </a:solidFill>
                    <a:latin typeface="Verdana"/>
                    <a:ea typeface="Verdana"/>
                  </a:rPr>
                  <a:t>For the following graphs of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𝑦</m:t>
                    </m:r>
                    <m:r>
                      <a:rPr lang="en-US" sz="1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 = </m:t>
                    </m:r>
                    <m:r>
                      <a:rPr lang="en-US" sz="1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𝑎𝑥</m:t>
                    </m:r>
                    <m:r>
                      <a:rPr lang="en-US" sz="1800" b="0" i="1" baseline="30000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2</m:t>
                    </m:r>
                    <m:r>
                      <a:rPr lang="en-US" sz="18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 + </m:t>
                    </m:r>
                    <m:r>
                      <a:rPr lang="en-US" sz="18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𝑏𝑥</m:t>
                    </m:r>
                    <m:r>
                      <a:rPr lang="en-US" sz="18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 + </m:t>
                    </m:r>
                    <m:r>
                      <a:rPr lang="en-US" sz="18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𝑐</m:t>
                    </m:r>
                  </m:oMath>
                </a14:m>
                <a:r>
                  <a:rPr lang="en-US" sz="1800" b="0" dirty="0">
                    <a:solidFill>
                      <a:srgbClr val="FFFFFF"/>
                    </a:solidFill>
                    <a:latin typeface="Verdana"/>
                    <a:ea typeface="Verdana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𝑎</m:t>
                    </m:r>
                    <m:r>
                      <a:rPr lang="en-US" sz="1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𝑏</m:t>
                    </m:r>
                    <m:r>
                      <a:rPr lang="en-US" sz="1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𝑐</m:t>
                    </m:r>
                  </m:oMath>
                </a14:m>
                <a:r>
                  <a:rPr lang="en-US" sz="1800" b="0" dirty="0">
                    <a:solidFill>
                      <a:srgbClr val="FFFFFF"/>
                    </a:solidFill>
                    <a:latin typeface="Verdana"/>
                    <a:ea typeface="Verdana"/>
                  </a:rPr>
                  <a:t> as real numbers, comment on the sign of    </a:t>
                </a:r>
                <a:r>
                  <a:rPr lang="en-US" sz="1400" b="0" i="0" dirty="0">
                    <a:solidFill>
                      <a:srgbClr val="040C28"/>
                    </a:solidFill>
                    <a:effectLst/>
                    <a:highlight>
                      <a:srgbClr val="D3E3FD"/>
                    </a:highlight>
                    <a:latin typeface="Google Sans"/>
                  </a:rPr>
                  <a:t>  </a:t>
                </a:r>
                <a:endParaRPr lang="en-US" sz="1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34EC3078-0B08-9E56-3E64-70CB58D56A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019952" y="2024063"/>
                <a:ext cx="7460848" cy="687422"/>
              </a:xfrm>
              <a:blipFill>
                <a:blip r:embed="rId2"/>
                <a:stretch>
                  <a:fillRect l="-81" r="-651" b="-68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3">
            <a:extLst>
              <a:ext uri="{FF2B5EF4-FFF2-40B4-BE49-F238E27FC236}">
                <a16:creationId xmlns:a16="http://schemas.microsoft.com/office/drawing/2014/main" id="{350F1E83-A87C-61F0-08DB-AED03F9BD06A}"/>
              </a:ext>
            </a:extLst>
          </p:cNvPr>
          <p:cNvSpPr txBox="1">
            <a:spLocks/>
          </p:cNvSpPr>
          <p:nvPr/>
        </p:nvSpPr>
        <p:spPr>
          <a:xfrm>
            <a:off x="6906621" y="1160463"/>
            <a:ext cx="1871267" cy="46991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Verdana"/>
                <a:ea typeface="Verdana"/>
              </a:rPr>
              <a:t>Question </a:t>
            </a:r>
            <a:endParaRPr lang="en-US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17A14CD3-B7ED-16A5-56DF-8A218063CA19}"/>
              </a:ext>
            </a:extLst>
          </p:cNvPr>
          <p:cNvSpPr txBox="1">
            <a:spLocks/>
          </p:cNvSpPr>
          <p:nvPr/>
        </p:nvSpPr>
        <p:spPr>
          <a:xfrm>
            <a:off x="4019952" y="3294063"/>
            <a:ext cx="3396848" cy="37797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b="0" dirty="0">
                <a:solidFill>
                  <a:srgbClr val="FFFFFF"/>
                </a:solidFill>
                <a:latin typeface="Verdana"/>
                <a:ea typeface="Verdana"/>
              </a:rPr>
              <a:t>i.  a</a:t>
            </a:r>
            <a:endParaRPr lang="en-GB" sz="1800" dirty="0">
              <a:solidFill>
                <a:srgbClr val="FFFFFF"/>
              </a:solidFill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9AA273D3-82C8-9BED-96C3-97F9AAE781C5}"/>
              </a:ext>
            </a:extLst>
          </p:cNvPr>
          <p:cNvSpPr txBox="1">
            <a:spLocks/>
          </p:cNvSpPr>
          <p:nvPr/>
        </p:nvSpPr>
        <p:spPr>
          <a:xfrm>
            <a:off x="4019952" y="3772757"/>
            <a:ext cx="3396848" cy="37797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b="0" dirty="0">
                <a:solidFill>
                  <a:srgbClr val="FFFFFF"/>
                </a:solidFill>
                <a:latin typeface="Verdana"/>
                <a:ea typeface="Verdana"/>
              </a:rPr>
              <a:t>ii.  b</a:t>
            </a:r>
            <a:endParaRPr lang="en-GB" sz="1800" dirty="0">
              <a:solidFill>
                <a:srgbClr val="FFFFFF"/>
              </a:solidFill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9BB7932E-FDD6-BA7D-0CAE-872E33CA5573}"/>
              </a:ext>
            </a:extLst>
          </p:cNvPr>
          <p:cNvSpPr txBox="1">
            <a:spLocks/>
          </p:cNvSpPr>
          <p:nvPr/>
        </p:nvSpPr>
        <p:spPr>
          <a:xfrm>
            <a:off x="4019952" y="4251451"/>
            <a:ext cx="3396848" cy="37797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b="0" dirty="0">
                <a:solidFill>
                  <a:srgbClr val="FFFFFF"/>
                </a:solidFill>
                <a:latin typeface="Verdana"/>
                <a:ea typeface="Verdana"/>
              </a:rPr>
              <a:t>iii. c</a:t>
            </a:r>
            <a:endParaRPr lang="en-GB" sz="1800" dirty="0">
              <a:solidFill>
                <a:srgbClr val="FFFFFF"/>
              </a:solidFill>
            </a:endParaRP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7E2305D-E022-30C8-8716-03E5F5B67AFC}"/>
              </a:ext>
            </a:extLst>
          </p:cNvPr>
          <p:cNvSpPr txBox="1">
            <a:spLocks/>
          </p:cNvSpPr>
          <p:nvPr/>
        </p:nvSpPr>
        <p:spPr>
          <a:xfrm>
            <a:off x="4019952" y="4730145"/>
            <a:ext cx="3396848" cy="37797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b="0" dirty="0">
                <a:solidFill>
                  <a:srgbClr val="FFFFFF"/>
                </a:solidFill>
                <a:latin typeface="Verdana"/>
                <a:ea typeface="Verdana"/>
              </a:rPr>
              <a:t>iv. D</a:t>
            </a:r>
            <a:endParaRPr lang="en-GB" sz="1800" dirty="0">
              <a:solidFill>
                <a:srgbClr val="FFFFFF"/>
              </a:solidFill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D00828A6-9F90-8E84-7F87-6C93852EAD2D}"/>
              </a:ext>
            </a:extLst>
          </p:cNvPr>
          <p:cNvSpPr txBox="1">
            <a:spLocks/>
          </p:cNvSpPr>
          <p:nvPr/>
        </p:nvSpPr>
        <p:spPr>
          <a:xfrm>
            <a:off x="4019952" y="5208839"/>
            <a:ext cx="3396848" cy="37797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b="0" dirty="0">
                <a:solidFill>
                  <a:schemeClr val="bg1"/>
                </a:solidFill>
                <a:latin typeface="Verdana"/>
                <a:ea typeface="Verdana"/>
              </a:rPr>
              <a:t>v.  </a:t>
            </a:r>
            <a:r>
              <a:rPr lang="en-US" sz="1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α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6F39570F-96EB-1FB3-2613-26495E56A98C}"/>
              </a:ext>
            </a:extLst>
          </p:cNvPr>
          <p:cNvSpPr txBox="1">
            <a:spLocks/>
          </p:cNvSpPr>
          <p:nvPr/>
        </p:nvSpPr>
        <p:spPr>
          <a:xfrm>
            <a:off x="4019952" y="5687532"/>
            <a:ext cx="3396848" cy="37797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b="0" dirty="0">
                <a:solidFill>
                  <a:srgbClr val="FFFFFF"/>
                </a:solidFill>
                <a:latin typeface="Verdana"/>
                <a:ea typeface="Verdana"/>
              </a:rPr>
              <a:t>vi. β</a:t>
            </a:r>
            <a:endParaRPr lang="en-GB" sz="1800" dirty="0">
              <a:solidFill>
                <a:srgbClr val="FFFFFF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366F3AF-CE81-686D-A004-909C7EDC5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085" y="3251128"/>
            <a:ext cx="3393669" cy="242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7008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34EC3078-0B08-9E56-3E64-70CB58D56A3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979312" y="2024063"/>
                <a:ext cx="7460848" cy="687422"/>
              </a:xfr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pPr algn="l"/>
                <a:r>
                  <a:rPr lang="en-US" sz="1800" b="0" dirty="0">
                    <a:solidFill>
                      <a:srgbClr val="FFFFFF"/>
                    </a:solidFill>
                    <a:latin typeface="Verdana"/>
                    <a:ea typeface="Verdana"/>
                  </a:rPr>
                  <a:t>For the following graphs of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𝑦</m:t>
                    </m:r>
                    <m:r>
                      <a:rPr lang="en-US" sz="1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 = </m:t>
                    </m:r>
                    <m:r>
                      <a:rPr lang="en-US" sz="1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𝑎𝑥</m:t>
                    </m:r>
                    <m:r>
                      <a:rPr lang="en-US" sz="1800" b="0" i="1" baseline="30000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2</m:t>
                    </m:r>
                    <m:r>
                      <a:rPr lang="en-US" sz="18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 + </m:t>
                    </m:r>
                    <m:r>
                      <a:rPr lang="en-US" sz="18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𝑏𝑥</m:t>
                    </m:r>
                    <m:r>
                      <a:rPr lang="en-US" sz="18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 + </m:t>
                    </m:r>
                    <m:r>
                      <a:rPr lang="en-US" sz="18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𝑐</m:t>
                    </m:r>
                  </m:oMath>
                </a14:m>
                <a:r>
                  <a:rPr lang="en-US" sz="1800" b="0" dirty="0">
                    <a:solidFill>
                      <a:srgbClr val="FFFFFF"/>
                    </a:solidFill>
                    <a:latin typeface="Verdana"/>
                    <a:ea typeface="Verdana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𝑎</m:t>
                    </m:r>
                    <m:r>
                      <a:rPr lang="en-US" sz="1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𝑏</m:t>
                    </m:r>
                    <m:r>
                      <a:rPr lang="en-US" sz="1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𝑐</m:t>
                    </m:r>
                  </m:oMath>
                </a14:m>
                <a:r>
                  <a:rPr lang="en-US" sz="1800" b="0" dirty="0">
                    <a:solidFill>
                      <a:srgbClr val="FFFFFF"/>
                    </a:solidFill>
                    <a:latin typeface="Verdana"/>
                    <a:ea typeface="Verdana"/>
                  </a:rPr>
                  <a:t> as real numbers, comment on the sign of    </a:t>
                </a:r>
                <a:r>
                  <a:rPr lang="en-US" sz="1400" b="0" i="0" dirty="0">
                    <a:solidFill>
                      <a:srgbClr val="040C28"/>
                    </a:solidFill>
                    <a:effectLst/>
                    <a:highlight>
                      <a:srgbClr val="D3E3FD"/>
                    </a:highlight>
                    <a:latin typeface="Google Sans"/>
                  </a:rPr>
                  <a:t>  </a:t>
                </a:r>
                <a:endParaRPr lang="en-US" sz="1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34EC3078-0B08-9E56-3E64-70CB58D56A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979312" y="2024063"/>
                <a:ext cx="7460848" cy="687422"/>
              </a:xfrm>
              <a:blipFill>
                <a:blip r:embed="rId2"/>
                <a:stretch>
                  <a:fillRect r="-732" b="-68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3">
            <a:extLst>
              <a:ext uri="{FF2B5EF4-FFF2-40B4-BE49-F238E27FC236}">
                <a16:creationId xmlns:a16="http://schemas.microsoft.com/office/drawing/2014/main" id="{350F1E83-A87C-61F0-08DB-AED03F9BD06A}"/>
              </a:ext>
            </a:extLst>
          </p:cNvPr>
          <p:cNvSpPr txBox="1">
            <a:spLocks/>
          </p:cNvSpPr>
          <p:nvPr/>
        </p:nvSpPr>
        <p:spPr>
          <a:xfrm>
            <a:off x="6906621" y="1160463"/>
            <a:ext cx="1871267" cy="46991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Verdana"/>
                <a:ea typeface="Verdana"/>
              </a:rPr>
              <a:t>Question </a:t>
            </a:r>
            <a:endParaRPr lang="en-US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17A14CD3-B7ED-16A5-56DF-8A218063CA19}"/>
              </a:ext>
            </a:extLst>
          </p:cNvPr>
          <p:cNvSpPr txBox="1">
            <a:spLocks/>
          </p:cNvSpPr>
          <p:nvPr/>
        </p:nvSpPr>
        <p:spPr>
          <a:xfrm>
            <a:off x="3979312" y="3294063"/>
            <a:ext cx="3396848" cy="37797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b="0" dirty="0">
                <a:solidFill>
                  <a:srgbClr val="FFFFFF"/>
                </a:solidFill>
                <a:latin typeface="Verdana"/>
                <a:ea typeface="Verdana"/>
              </a:rPr>
              <a:t>i.  a</a:t>
            </a:r>
            <a:endParaRPr lang="en-GB" sz="1800" dirty="0">
              <a:solidFill>
                <a:srgbClr val="FFFFFF"/>
              </a:solidFill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9AA273D3-82C8-9BED-96C3-97F9AAE781C5}"/>
              </a:ext>
            </a:extLst>
          </p:cNvPr>
          <p:cNvSpPr txBox="1">
            <a:spLocks/>
          </p:cNvSpPr>
          <p:nvPr/>
        </p:nvSpPr>
        <p:spPr>
          <a:xfrm>
            <a:off x="3979312" y="3772757"/>
            <a:ext cx="3396848" cy="37797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b="0" dirty="0">
                <a:solidFill>
                  <a:srgbClr val="FFFFFF"/>
                </a:solidFill>
                <a:latin typeface="Verdana"/>
                <a:ea typeface="Verdana"/>
              </a:rPr>
              <a:t>ii.  b</a:t>
            </a:r>
            <a:endParaRPr lang="en-GB" sz="1800" dirty="0">
              <a:solidFill>
                <a:srgbClr val="FFFFFF"/>
              </a:solidFill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9BB7932E-FDD6-BA7D-0CAE-872E33CA5573}"/>
              </a:ext>
            </a:extLst>
          </p:cNvPr>
          <p:cNvSpPr txBox="1">
            <a:spLocks/>
          </p:cNvSpPr>
          <p:nvPr/>
        </p:nvSpPr>
        <p:spPr>
          <a:xfrm>
            <a:off x="3979312" y="4251451"/>
            <a:ext cx="3396848" cy="37797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b="0" dirty="0">
                <a:solidFill>
                  <a:srgbClr val="FFFFFF"/>
                </a:solidFill>
                <a:latin typeface="Verdana"/>
                <a:ea typeface="Verdana"/>
              </a:rPr>
              <a:t>iii. c</a:t>
            </a:r>
            <a:endParaRPr lang="en-GB" sz="1800" dirty="0">
              <a:solidFill>
                <a:srgbClr val="FFFFFF"/>
              </a:solidFill>
            </a:endParaRP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7E2305D-E022-30C8-8716-03E5F5B67AFC}"/>
              </a:ext>
            </a:extLst>
          </p:cNvPr>
          <p:cNvSpPr txBox="1">
            <a:spLocks/>
          </p:cNvSpPr>
          <p:nvPr/>
        </p:nvSpPr>
        <p:spPr>
          <a:xfrm>
            <a:off x="3979312" y="4730145"/>
            <a:ext cx="3396848" cy="37797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b="0" dirty="0">
                <a:solidFill>
                  <a:srgbClr val="FFFFFF"/>
                </a:solidFill>
                <a:latin typeface="Verdana"/>
                <a:ea typeface="Verdana"/>
              </a:rPr>
              <a:t>iv. D</a:t>
            </a:r>
            <a:endParaRPr lang="en-GB" sz="1800" dirty="0">
              <a:solidFill>
                <a:srgbClr val="FFFFFF"/>
              </a:solidFill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D00828A6-9F90-8E84-7F87-6C93852EAD2D}"/>
              </a:ext>
            </a:extLst>
          </p:cNvPr>
          <p:cNvSpPr txBox="1">
            <a:spLocks/>
          </p:cNvSpPr>
          <p:nvPr/>
        </p:nvSpPr>
        <p:spPr>
          <a:xfrm>
            <a:off x="3979312" y="5208839"/>
            <a:ext cx="3396848" cy="37797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b="0" dirty="0">
                <a:solidFill>
                  <a:schemeClr val="bg1"/>
                </a:solidFill>
                <a:latin typeface="Verdana"/>
                <a:ea typeface="Verdana"/>
              </a:rPr>
              <a:t>v.  </a:t>
            </a:r>
            <a:r>
              <a:rPr lang="en-US" sz="1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α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6F39570F-96EB-1FB3-2613-26495E56A98C}"/>
              </a:ext>
            </a:extLst>
          </p:cNvPr>
          <p:cNvSpPr txBox="1">
            <a:spLocks/>
          </p:cNvSpPr>
          <p:nvPr/>
        </p:nvSpPr>
        <p:spPr>
          <a:xfrm>
            <a:off x="3979312" y="5687532"/>
            <a:ext cx="3396848" cy="37797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b="0" dirty="0">
                <a:solidFill>
                  <a:srgbClr val="FFFFFF"/>
                </a:solidFill>
                <a:latin typeface="Verdana"/>
                <a:ea typeface="Verdana"/>
              </a:rPr>
              <a:t>vi. β</a:t>
            </a:r>
            <a:endParaRPr lang="en-GB" sz="1800"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7B4AFD-D624-353A-5834-5F9D39D0E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335" y="3192280"/>
            <a:ext cx="4100041" cy="291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3646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34EC3078-0B08-9E56-3E64-70CB58D56A3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979312" y="2024063"/>
                <a:ext cx="7460848" cy="687422"/>
              </a:xfr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pPr algn="l"/>
                <a:r>
                  <a:rPr lang="en-US" sz="1800" b="0" dirty="0">
                    <a:solidFill>
                      <a:srgbClr val="FFFFFF"/>
                    </a:solidFill>
                    <a:latin typeface="Verdana"/>
                    <a:ea typeface="Verdana"/>
                  </a:rPr>
                  <a:t>For the following graphs of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𝑦</m:t>
                    </m:r>
                    <m:r>
                      <a:rPr lang="en-US" sz="1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 = </m:t>
                    </m:r>
                    <m:r>
                      <a:rPr lang="en-US" sz="1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𝑎𝑥</m:t>
                    </m:r>
                    <m:r>
                      <a:rPr lang="en-US" sz="1800" b="0" i="1" baseline="30000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2</m:t>
                    </m:r>
                    <m:r>
                      <a:rPr lang="en-US" sz="18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 + </m:t>
                    </m:r>
                    <m:r>
                      <a:rPr lang="en-US" sz="18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𝑏𝑥</m:t>
                    </m:r>
                    <m:r>
                      <a:rPr lang="en-US" sz="18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 + </m:t>
                    </m:r>
                    <m:r>
                      <a:rPr lang="en-US" sz="18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𝑐</m:t>
                    </m:r>
                  </m:oMath>
                </a14:m>
                <a:r>
                  <a:rPr lang="en-US" sz="1800" b="0" dirty="0">
                    <a:solidFill>
                      <a:srgbClr val="FFFFFF"/>
                    </a:solidFill>
                    <a:latin typeface="Verdana"/>
                    <a:ea typeface="Verdana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𝑎</m:t>
                    </m:r>
                    <m:r>
                      <a:rPr lang="en-US" sz="1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𝑏</m:t>
                    </m:r>
                    <m:r>
                      <a:rPr lang="en-US" sz="1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, </m:t>
                    </m:r>
                    <m:r>
                      <a:rPr lang="en-US" sz="1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𝑐</m:t>
                    </m:r>
                  </m:oMath>
                </a14:m>
                <a:r>
                  <a:rPr lang="en-US" sz="1800" b="0" dirty="0">
                    <a:solidFill>
                      <a:srgbClr val="FFFFFF"/>
                    </a:solidFill>
                    <a:latin typeface="Verdana"/>
                    <a:ea typeface="Verdana"/>
                  </a:rPr>
                  <a:t> as real numbers, comment on the sign of    </a:t>
                </a:r>
                <a:r>
                  <a:rPr lang="en-US" sz="1400" b="0" i="0" dirty="0">
                    <a:solidFill>
                      <a:srgbClr val="040C28"/>
                    </a:solidFill>
                    <a:effectLst/>
                    <a:highlight>
                      <a:srgbClr val="D3E3FD"/>
                    </a:highlight>
                    <a:latin typeface="Google Sans"/>
                  </a:rPr>
                  <a:t>  </a:t>
                </a:r>
                <a:endParaRPr lang="en-US" sz="1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34EC3078-0B08-9E56-3E64-70CB58D56A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979312" y="2024063"/>
                <a:ext cx="7460848" cy="687422"/>
              </a:xfrm>
              <a:blipFill>
                <a:blip r:embed="rId2"/>
                <a:stretch>
                  <a:fillRect r="-732" b="-68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3">
            <a:extLst>
              <a:ext uri="{FF2B5EF4-FFF2-40B4-BE49-F238E27FC236}">
                <a16:creationId xmlns:a16="http://schemas.microsoft.com/office/drawing/2014/main" id="{350F1E83-A87C-61F0-08DB-AED03F9BD06A}"/>
              </a:ext>
            </a:extLst>
          </p:cNvPr>
          <p:cNvSpPr txBox="1">
            <a:spLocks/>
          </p:cNvSpPr>
          <p:nvPr/>
        </p:nvSpPr>
        <p:spPr>
          <a:xfrm>
            <a:off x="6906621" y="1160463"/>
            <a:ext cx="1871267" cy="46991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Verdana"/>
                <a:ea typeface="Verdana"/>
              </a:rPr>
              <a:t>Question </a:t>
            </a:r>
            <a:endParaRPr lang="en-US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17A14CD3-B7ED-16A5-56DF-8A218063CA19}"/>
              </a:ext>
            </a:extLst>
          </p:cNvPr>
          <p:cNvSpPr txBox="1">
            <a:spLocks/>
          </p:cNvSpPr>
          <p:nvPr/>
        </p:nvSpPr>
        <p:spPr>
          <a:xfrm>
            <a:off x="3979312" y="3294063"/>
            <a:ext cx="3396848" cy="37797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b="0" dirty="0">
                <a:solidFill>
                  <a:srgbClr val="FFFFFF"/>
                </a:solidFill>
                <a:latin typeface="Verdana"/>
                <a:ea typeface="Verdana"/>
              </a:rPr>
              <a:t>i.  a</a:t>
            </a:r>
            <a:endParaRPr lang="en-GB" sz="1800" dirty="0">
              <a:solidFill>
                <a:srgbClr val="FFFFFF"/>
              </a:solidFill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9AA273D3-82C8-9BED-96C3-97F9AAE781C5}"/>
              </a:ext>
            </a:extLst>
          </p:cNvPr>
          <p:cNvSpPr txBox="1">
            <a:spLocks/>
          </p:cNvSpPr>
          <p:nvPr/>
        </p:nvSpPr>
        <p:spPr>
          <a:xfrm>
            <a:off x="3979312" y="3772757"/>
            <a:ext cx="3396848" cy="37797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b="0" dirty="0">
                <a:solidFill>
                  <a:srgbClr val="FFFFFF"/>
                </a:solidFill>
                <a:latin typeface="Verdana"/>
                <a:ea typeface="Verdana"/>
              </a:rPr>
              <a:t>ii.  b</a:t>
            </a:r>
            <a:endParaRPr lang="en-GB" sz="1800" dirty="0">
              <a:solidFill>
                <a:srgbClr val="FFFFFF"/>
              </a:solidFill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9BB7932E-FDD6-BA7D-0CAE-872E33CA5573}"/>
              </a:ext>
            </a:extLst>
          </p:cNvPr>
          <p:cNvSpPr txBox="1">
            <a:spLocks/>
          </p:cNvSpPr>
          <p:nvPr/>
        </p:nvSpPr>
        <p:spPr>
          <a:xfrm>
            <a:off x="3979312" y="4251451"/>
            <a:ext cx="3396848" cy="37797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b="0" dirty="0">
                <a:solidFill>
                  <a:srgbClr val="FFFFFF"/>
                </a:solidFill>
                <a:latin typeface="Verdana"/>
                <a:ea typeface="Verdana"/>
              </a:rPr>
              <a:t>iii. c</a:t>
            </a:r>
            <a:endParaRPr lang="en-GB" sz="1800" dirty="0">
              <a:solidFill>
                <a:srgbClr val="FFFFFF"/>
              </a:solidFill>
            </a:endParaRP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7E2305D-E022-30C8-8716-03E5F5B67AFC}"/>
              </a:ext>
            </a:extLst>
          </p:cNvPr>
          <p:cNvSpPr txBox="1">
            <a:spLocks/>
          </p:cNvSpPr>
          <p:nvPr/>
        </p:nvSpPr>
        <p:spPr>
          <a:xfrm>
            <a:off x="3979312" y="4730145"/>
            <a:ext cx="3396848" cy="37797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b="0" dirty="0">
                <a:solidFill>
                  <a:srgbClr val="FFFFFF"/>
                </a:solidFill>
                <a:latin typeface="Verdana"/>
                <a:ea typeface="Verdana"/>
              </a:rPr>
              <a:t>iv. D</a:t>
            </a:r>
            <a:endParaRPr lang="en-GB" sz="1800" dirty="0">
              <a:solidFill>
                <a:srgbClr val="FFFFFF"/>
              </a:solidFill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D00828A6-9F90-8E84-7F87-6C93852EAD2D}"/>
              </a:ext>
            </a:extLst>
          </p:cNvPr>
          <p:cNvSpPr txBox="1">
            <a:spLocks/>
          </p:cNvSpPr>
          <p:nvPr/>
        </p:nvSpPr>
        <p:spPr>
          <a:xfrm>
            <a:off x="3979312" y="5208839"/>
            <a:ext cx="3396848" cy="37797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b="0" dirty="0">
                <a:solidFill>
                  <a:schemeClr val="bg1"/>
                </a:solidFill>
                <a:latin typeface="Verdana"/>
                <a:ea typeface="Verdana"/>
              </a:rPr>
              <a:t>v.  </a:t>
            </a:r>
            <a:r>
              <a:rPr lang="en-US" sz="1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α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6F39570F-96EB-1FB3-2613-26495E56A98C}"/>
              </a:ext>
            </a:extLst>
          </p:cNvPr>
          <p:cNvSpPr txBox="1">
            <a:spLocks/>
          </p:cNvSpPr>
          <p:nvPr/>
        </p:nvSpPr>
        <p:spPr>
          <a:xfrm>
            <a:off x="3979312" y="5687532"/>
            <a:ext cx="3396848" cy="37797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b="0" dirty="0">
                <a:solidFill>
                  <a:srgbClr val="FFFFFF"/>
                </a:solidFill>
                <a:latin typeface="Verdana"/>
                <a:ea typeface="Verdana"/>
              </a:rPr>
              <a:t>vi. β</a:t>
            </a:r>
            <a:endParaRPr lang="en-GB" sz="1800"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6716F0-D45E-76F2-1323-E8B715821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083" y="3143196"/>
            <a:ext cx="3828597" cy="271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9412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E5A47C6-3374-DE3A-BF4F-21F2FC68099F}"/>
              </a:ext>
            </a:extLst>
          </p:cNvPr>
          <p:cNvCxnSpPr>
            <a:cxnSpLocks/>
          </p:cNvCxnSpPr>
          <p:nvPr/>
        </p:nvCxnSpPr>
        <p:spPr>
          <a:xfrm>
            <a:off x="7345680" y="2235200"/>
            <a:ext cx="0" cy="4216400"/>
          </a:xfrm>
          <a:prstGeom prst="straightConnector1">
            <a:avLst/>
          </a:prstGeom>
          <a:ln w="28575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0561FC5-D785-170B-A861-B625E4A4C075}"/>
              </a:ext>
            </a:extLst>
          </p:cNvPr>
          <p:cNvCxnSpPr>
            <a:cxnSpLocks/>
          </p:cNvCxnSpPr>
          <p:nvPr/>
        </p:nvCxnSpPr>
        <p:spPr>
          <a:xfrm flipH="1">
            <a:off x="4419600" y="4135120"/>
            <a:ext cx="7386320" cy="0"/>
          </a:xfrm>
          <a:prstGeom prst="straightConnector1">
            <a:avLst/>
          </a:prstGeom>
          <a:ln w="28575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rc 8">
            <a:extLst>
              <a:ext uri="{FF2B5EF4-FFF2-40B4-BE49-F238E27FC236}">
                <a16:creationId xmlns:a16="http://schemas.microsoft.com/office/drawing/2014/main" id="{BA4311AA-4B19-935C-E6DD-2544742EA937}"/>
              </a:ext>
            </a:extLst>
          </p:cNvPr>
          <p:cNvSpPr/>
          <p:nvPr/>
        </p:nvSpPr>
        <p:spPr>
          <a:xfrm rot="10800000" flipV="1">
            <a:off x="9641842" y="2675462"/>
            <a:ext cx="1473198" cy="5858937"/>
          </a:xfrm>
          <a:prstGeom prst="arc">
            <a:avLst>
              <a:gd name="adj1" fmla="val 10828060"/>
              <a:gd name="adj2" fmla="val 21506164"/>
            </a:avLst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B3BD681-E5A3-A048-E37C-C6A7C71339B5}"/>
              </a:ext>
            </a:extLst>
          </p:cNvPr>
          <p:cNvCxnSpPr/>
          <p:nvPr/>
        </p:nvCxnSpPr>
        <p:spPr>
          <a:xfrm>
            <a:off x="9763760" y="4020820"/>
            <a:ext cx="0" cy="26924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D66538-E444-E261-188B-3A2FE29DB884}"/>
              </a:ext>
            </a:extLst>
          </p:cNvPr>
          <p:cNvCxnSpPr/>
          <p:nvPr/>
        </p:nvCxnSpPr>
        <p:spPr>
          <a:xfrm>
            <a:off x="11003280" y="4018280"/>
            <a:ext cx="0" cy="26924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9495C72-1708-D9C5-FDEC-553D0AF2F77C}"/>
              </a:ext>
            </a:extLst>
          </p:cNvPr>
          <p:cNvSpPr txBox="1"/>
          <p:nvPr/>
        </p:nvSpPr>
        <p:spPr>
          <a:xfrm>
            <a:off x="11734801" y="4158734"/>
            <a:ext cx="619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chemeClr val="bg1"/>
                </a:solidFill>
              </a:rPr>
              <a:t>x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5790AA-DD47-7D2F-461E-C35CD2AE70BF}"/>
              </a:ext>
            </a:extLst>
          </p:cNvPr>
          <p:cNvSpPr txBox="1"/>
          <p:nvPr/>
        </p:nvSpPr>
        <p:spPr>
          <a:xfrm flipH="1">
            <a:off x="9149080" y="4209534"/>
            <a:ext cx="742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(3,0)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70D360-F165-371A-3F07-2B22687CF2E9}"/>
              </a:ext>
            </a:extLst>
          </p:cNvPr>
          <p:cNvSpPr txBox="1"/>
          <p:nvPr/>
        </p:nvSpPr>
        <p:spPr>
          <a:xfrm flipH="1">
            <a:off x="11053445" y="4249421"/>
            <a:ext cx="742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(4,0)</a:t>
            </a:r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85E27AF-F0CD-CAF5-6D5E-A5233156B8B3}"/>
                  </a:ext>
                </a:extLst>
              </p:cNvPr>
              <p:cNvSpPr txBox="1"/>
              <p:nvPr/>
            </p:nvSpPr>
            <p:spPr>
              <a:xfrm>
                <a:off x="4047703" y="1763463"/>
                <a:ext cx="6795008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>
                  <a:defRPr/>
                </a:pPr>
                <a:r>
                  <a:rPr lang="en-GB" sz="2000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Find the maximum or minimum value f</a:t>
                </a:r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or </a:t>
                </a:r>
                <a14:m>
                  <m:oMath xmlns:m="http://schemas.openxmlformats.org/officeDocument/2006/math">
                    <m:r>
                      <a:rPr kumimoji="0" lang="en-GB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−(</m:t>
                    </m:r>
                    <m:r>
                      <a:rPr kumimoji="0" lang="en-GB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𝑥</m:t>
                    </m:r>
                    <m:r>
                      <a:rPr kumimoji="0" lang="en-GB" sz="2000" b="0" i="1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2</m:t>
                    </m:r>
                    <m:r>
                      <a:rPr kumimoji="0" lang="en-GB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2000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kumimoji="0" lang="en-GB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2000" i="1" noProof="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7</m:t>
                    </m:r>
                    <m:r>
                      <a:rPr kumimoji="0" lang="en-GB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𝑥</m:t>
                    </m:r>
                    <m:r>
                      <a:rPr kumimoji="0" lang="en-GB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 + 12)</m:t>
                    </m:r>
                  </m:oMath>
                </a14:m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85E27AF-F0CD-CAF5-6D5E-A5233156B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703" y="1763463"/>
                <a:ext cx="6795008" cy="707886"/>
              </a:xfrm>
              <a:prstGeom prst="rect">
                <a:avLst/>
              </a:prstGeom>
              <a:blipFill>
                <a:blip r:embed="rId2"/>
                <a:stretch>
                  <a:fillRect l="-987" t="-43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C9D4A991-6F61-4C82-DA6F-111B66C81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552" y="1160463"/>
            <a:ext cx="1763422" cy="469916"/>
          </a:xfrm>
          <a:solidFill>
            <a:srgbClr val="7C7E7E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 anchorCtr="0">
            <a:spAutoFit/>
          </a:bodyPr>
          <a:lstStyle/>
          <a:p>
            <a:r>
              <a:rPr lang="en-GB" dirty="0"/>
              <a:t>Question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04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/>
      <p:bldP spid="18" grpId="0"/>
      <p:bldP spid="19" grpId="0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796F0DF-8853-CF94-2C9C-BB85AA31FEB2}"/>
              </a:ext>
            </a:extLst>
          </p:cNvPr>
          <p:cNvCxnSpPr>
            <a:cxnSpLocks/>
          </p:cNvCxnSpPr>
          <p:nvPr/>
        </p:nvCxnSpPr>
        <p:spPr>
          <a:xfrm>
            <a:off x="7345680" y="2915920"/>
            <a:ext cx="0" cy="3535680"/>
          </a:xfrm>
          <a:prstGeom prst="straightConnector1">
            <a:avLst/>
          </a:prstGeom>
          <a:ln w="28575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7CBB192-79A2-EF6B-DEB5-8FC5A976B966}"/>
              </a:ext>
            </a:extLst>
          </p:cNvPr>
          <p:cNvCxnSpPr>
            <a:cxnSpLocks/>
          </p:cNvCxnSpPr>
          <p:nvPr/>
        </p:nvCxnSpPr>
        <p:spPr>
          <a:xfrm flipH="1">
            <a:off x="5994400" y="4135120"/>
            <a:ext cx="5811520" cy="0"/>
          </a:xfrm>
          <a:prstGeom prst="straightConnector1">
            <a:avLst/>
          </a:prstGeom>
          <a:ln w="28575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rc 6">
            <a:extLst>
              <a:ext uri="{FF2B5EF4-FFF2-40B4-BE49-F238E27FC236}">
                <a16:creationId xmlns:a16="http://schemas.microsoft.com/office/drawing/2014/main" id="{8D3CF638-B842-19C6-8E83-70D1EB723341}"/>
              </a:ext>
            </a:extLst>
          </p:cNvPr>
          <p:cNvSpPr/>
          <p:nvPr/>
        </p:nvSpPr>
        <p:spPr>
          <a:xfrm flipV="1">
            <a:off x="9641842" y="-403018"/>
            <a:ext cx="1473198" cy="5858937"/>
          </a:xfrm>
          <a:prstGeom prst="arc">
            <a:avLst>
              <a:gd name="adj1" fmla="val 12625991"/>
              <a:gd name="adj2" fmla="val 19786696"/>
            </a:avLst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5B5A6B-F4E3-84F8-FA15-269F0641E293}"/>
              </a:ext>
            </a:extLst>
          </p:cNvPr>
          <p:cNvCxnSpPr>
            <a:cxnSpLocks/>
          </p:cNvCxnSpPr>
          <p:nvPr/>
        </p:nvCxnSpPr>
        <p:spPr>
          <a:xfrm>
            <a:off x="8554720" y="4008120"/>
            <a:ext cx="0" cy="26924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7B4ED4D-D4E3-BBFB-261D-C2A54CA890C9}"/>
              </a:ext>
            </a:extLst>
          </p:cNvPr>
          <p:cNvCxnSpPr>
            <a:cxnSpLocks/>
          </p:cNvCxnSpPr>
          <p:nvPr/>
        </p:nvCxnSpPr>
        <p:spPr>
          <a:xfrm>
            <a:off x="9763760" y="4020820"/>
            <a:ext cx="0" cy="26924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A210A5-6A78-EE0B-56CE-071286007834}"/>
              </a:ext>
            </a:extLst>
          </p:cNvPr>
          <p:cNvCxnSpPr>
            <a:cxnSpLocks/>
          </p:cNvCxnSpPr>
          <p:nvPr/>
        </p:nvCxnSpPr>
        <p:spPr>
          <a:xfrm>
            <a:off x="11003280" y="4018280"/>
            <a:ext cx="0" cy="26924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84EF026-60BE-2B96-38F8-BD96B8377544}"/>
              </a:ext>
            </a:extLst>
          </p:cNvPr>
          <p:cNvSpPr txBox="1"/>
          <p:nvPr/>
        </p:nvSpPr>
        <p:spPr>
          <a:xfrm>
            <a:off x="11734801" y="4158734"/>
            <a:ext cx="619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chemeClr val="bg1"/>
                </a:solidFill>
              </a:rPr>
              <a:t>x</a:t>
            </a:r>
            <a:endParaRPr lang="en-US" i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01F5F8-2F46-C8B3-C67F-68195B5C3BB6}"/>
              </a:ext>
            </a:extLst>
          </p:cNvPr>
          <p:cNvSpPr txBox="1"/>
          <p:nvPr/>
        </p:nvSpPr>
        <p:spPr>
          <a:xfrm flipH="1">
            <a:off x="8217535" y="4262121"/>
            <a:ext cx="742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(1,0)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7C2B24-76CD-0A67-15E5-93267A06ECCF}"/>
              </a:ext>
            </a:extLst>
          </p:cNvPr>
          <p:cNvSpPr txBox="1"/>
          <p:nvPr/>
        </p:nvSpPr>
        <p:spPr>
          <a:xfrm flipH="1">
            <a:off x="9344027" y="4290813"/>
            <a:ext cx="742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(2,0)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D73D92-3263-D919-BAD4-F15217FFB422}"/>
              </a:ext>
            </a:extLst>
          </p:cNvPr>
          <p:cNvSpPr txBox="1"/>
          <p:nvPr/>
        </p:nvSpPr>
        <p:spPr>
          <a:xfrm flipH="1">
            <a:off x="10885171" y="4343400"/>
            <a:ext cx="742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(3,0)</a:t>
            </a:r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8E00C27-9F93-000B-9F8F-196B63105EBD}"/>
                  </a:ext>
                </a:extLst>
              </p:cNvPr>
              <p:cNvSpPr txBox="1"/>
              <p:nvPr/>
            </p:nvSpPr>
            <p:spPr>
              <a:xfrm>
                <a:off x="4955716" y="1895279"/>
                <a:ext cx="61772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 Find the maximum</a:t>
                </a:r>
                <a:r>
                  <a:rPr kumimoji="0" lang="en-GB" sz="2000" b="0" i="0" u="none" strike="noStrike" kern="1200" cap="none" spc="0" normalizeH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 or minimum value of </a:t>
                </a:r>
                <a14:m>
                  <m:oMath xmlns:m="http://schemas.openxmlformats.org/officeDocument/2006/math">
                    <m:r>
                      <a:rPr kumimoji="0" lang="en-GB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𝑥</m:t>
                    </m:r>
                    <m:r>
                      <a:rPr kumimoji="0" lang="en-GB" sz="2000" b="0" i="1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2</m:t>
                    </m:r>
                    <m:r>
                      <a:rPr kumimoji="0" lang="en-GB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2000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kumimoji="0" lang="en-GB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2000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kumimoji="0" lang="en-GB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𝑥</m:t>
                    </m:r>
                    <m:r>
                      <a:rPr kumimoji="0" lang="en-GB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Calibri" panose="020F0502020204030204" pitchFamily="34" charset="0"/>
                      </a:rPr>
                      <m:t> + 6</m:t>
                    </m:r>
                  </m:oMath>
                </a14:m>
                <a:endParaRPr kumimoji="0" 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8E00C27-9F93-000B-9F8F-196B63105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5716" y="1895279"/>
                <a:ext cx="6177280" cy="400110"/>
              </a:xfrm>
              <a:prstGeom prst="rect">
                <a:avLst/>
              </a:prstGeom>
              <a:blipFill>
                <a:blip r:embed="rId2"/>
                <a:stretch>
                  <a:fillRect l="-197" t="-9091" b="-25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1">
            <a:extLst>
              <a:ext uri="{FF2B5EF4-FFF2-40B4-BE49-F238E27FC236}">
                <a16:creationId xmlns:a16="http://schemas.microsoft.com/office/drawing/2014/main" id="{8771006B-88A5-B0D6-1F5E-CF33E6C15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6616" y="1160463"/>
            <a:ext cx="1871267" cy="469916"/>
          </a:xfrm>
        </p:spPr>
        <p:txBody>
          <a:bodyPr/>
          <a:lstStyle/>
          <a:p>
            <a:r>
              <a:rPr lang="en-US" dirty="0">
                <a:latin typeface="Verdana"/>
                <a:ea typeface="Verdana"/>
              </a:rPr>
              <a:t>Question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297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/>
      <p:bldP spid="13" grpId="0"/>
      <p:bldP spid="14" grpId="0"/>
      <p:bldP spid="15" grpId="0"/>
      <p:bldP spid="1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34EC3078-0B08-9E56-3E64-70CB58D56A3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971925" y="2013903"/>
                <a:ext cx="7740650" cy="480487"/>
              </a:xfr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pPr algn="l"/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Find the minimum value of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3</m:t>
                    </m:r>
                    <m:r>
                      <a:rPr lang="en-US" sz="22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𝑥</m:t>
                    </m:r>
                    <m:r>
                      <a:rPr lang="en-US" sz="2200" b="0" i="1" baseline="30000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2</m:t>
                    </m:r>
                    <m:r>
                      <a:rPr lang="en-US" sz="22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 − 2</m:t>
                    </m:r>
                    <m:r>
                      <a:rPr lang="en-US" sz="22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𝑥</m:t>
                    </m:r>
                    <m:r>
                      <a:rPr lang="en-US" sz="22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 + 1</m:t>
                    </m:r>
                  </m:oMath>
                </a14:m>
                <a:endParaRPr lang="en-US" sz="2200" dirty="0">
                  <a:solidFill>
                    <a:srgbClr val="FFFFFF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34EC3078-0B08-9E56-3E64-70CB58D56A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971925" y="2013903"/>
                <a:ext cx="7740650" cy="480487"/>
              </a:xfrm>
              <a:blipFill>
                <a:blip r:embed="rId2"/>
                <a:stretch>
                  <a:fillRect l="-549" t="-2381" b="-16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3">
            <a:extLst>
              <a:ext uri="{FF2B5EF4-FFF2-40B4-BE49-F238E27FC236}">
                <a16:creationId xmlns:a16="http://schemas.microsoft.com/office/drawing/2014/main" id="{350F1E83-A87C-61F0-08DB-AED03F9BD06A}"/>
              </a:ext>
            </a:extLst>
          </p:cNvPr>
          <p:cNvSpPr txBox="1">
            <a:spLocks/>
          </p:cNvSpPr>
          <p:nvPr/>
        </p:nvSpPr>
        <p:spPr>
          <a:xfrm>
            <a:off x="6906621" y="1160463"/>
            <a:ext cx="1871267" cy="46991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Verdana"/>
                <a:ea typeface="Verdana"/>
              </a:rPr>
              <a:t>Question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7158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350F1E83-A87C-61F0-08DB-AED03F9BD06A}"/>
              </a:ext>
            </a:extLst>
          </p:cNvPr>
          <p:cNvSpPr txBox="1">
            <a:spLocks/>
          </p:cNvSpPr>
          <p:nvPr/>
        </p:nvSpPr>
        <p:spPr>
          <a:xfrm>
            <a:off x="6964629" y="1160463"/>
            <a:ext cx="1755253" cy="46991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Verdana"/>
                <a:ea typeface="Verdana"/>
              </a:rPr>
              <a:t>Solution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8035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2A585-000D-C09C-62F2-133927D75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5C4BAC1B-582C-4C90-0ADE-1F02A14777B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979311" y="2024063"/>
                <a:ext cx="7733263" cy="776383"/>
              </a:xfr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pPr algn="l"/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The  graph of the equation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𝑦</m:t>
                    </m:r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=2</m:t>
                    </m:r>
                    <m:sSup>
                      <m:sSupPr>
                        <m:ctrlP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</m:ctrlPr>
                      </m:sSupPr>
                      <m:e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𝑥</m:t>
                        </m:r>
                      </m:e>
                      <m:sup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2</m:t>
                        </m:r>
                      </m:sup>
                    </m:sSup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+4</m:t>
                    </m:r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𝑥</m:t>
                    </m:r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+3</m:t>
                    </m:r>
                  </m:oMath>
                </a14:m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 has its lowest point at:</a:t>
                </a:r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5C4BAC1B-582C-4C90-0ADE-1F02A14777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979311" y="2024063"/>
                <a:ext cx="7733263" cy="776383"/>
              </a:xfrm>
              <a:blipFill>
                <a:blip r:embed="rId2"/>
                <a:stretch>
                  <a:fillRect l="-314" t="-3030" r="-628" b="-8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3">
            <a:extLst>
              <a:ext uri="{FF2B5EF4-FFF2-40B4-BE49-F238E27FC236}">
                <a16:creationId xmlns:a16="http://schemas.microsoft.com/office/drawing/2014/main" id="{244978C2-D50A-F95C-5A59-07F9B8A4367A}"/>
              </a:ext>
            </a:extLst>
          </p:cNvPr>
          <p:cNvSpPr txBox="1">
            <a:spLocks/>
          </p:cNvSpPr>
          <p:nvPr/>
        </p:nvSpPr>
        <p:spPr>
          <a:xfrm>
            <a:off x="6906621" y="1160463"/>
            <a:ext cx="1871267" cy="46991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Verdana"/>
                <a:ea typeface="Verdana"/>
              </a:rPr>
              <a:t>Question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3">
                <a:extLst>
                  <a:ext uri="{FF2B5EF4-FFF2-40B4-BE49-F238E27FC236}">
                    <a16:creationId xmlns:a16="http://schemas.microsoft.com/office/drawing/2014/main" id="{98AB19CC-D02B-4677-0031-5806322ACB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79312" y="3294063"/>
                <a:ext cx="3669262" cy="439269"/>
              </a:xfrm>
              <a:prstGeom prst="roundRect">
                <a:avLst/>
              </a:prstGeom>
              <a:solidFill>
                <a:srgbClr val="7C7E7E"/>
              </a:solidFill>
              <a:ln w="12700" cap="flat" cmpd="sng" algn="ctr">
                <a:noFill/>
                <a:prstDash val="solid"/>
                <a:miter lim="800000"/>
              </a:ln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n-US" sz="2400" b="1" kern="1200" dirty="0">
                    <a:solidFill>
                      <a:srgbClr val="FFFF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GB" sz="2200" b="0" dirty="0">
                    <a:solidFill>
                      <a:srgbClr val="FFFFFF"/>
                    </a:solidFill>
                    <a:latin typeface="+mn-lt"/>
                  </a:rPr>
                  <a:t>A.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2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−1,9</m:t>
                        </m:r>
                      </m:e>
                    </m:d>
                  </m:oMath>
                </a14:m>
                <a:endParaRPr lang="en-GB" sz="2200" dirty="0">
                  <a:solidFill>
                    <a:srgbClr val="FFFFFF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" name="Title 3">
                <a:extLst>
                  <a:ext uri="{FF2B5EF4-FFF2-40B4-BE49-F238E27FC236}">
                    <a16:creationId xmlns:a16="http://schemas.microsoft.com/office/drawing/2014/main" id="{98AB19CC-D02B-4677-0031-5806322AC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312" y="3294063"/>
                <a:ext cx="3669262" cy="439269"/>
              </a:xfrm>
              <a:prstGeom prst="roundRect">
                <a:avLst/>
              </a:prstGeom>
              <a:blipFill>
                <a:blip r:embed="rId3"/>
                <a:stretch>
                  <a:fillRect l="-1153" t="-7792" b="-1818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3">
                <a:extLst>
                  <a:ext uri="{FF2B5EF4-FFF2-40B4-BE49-F238E27FC236}">
                    <a16:creationId xmlns:a16="http://schemas.microsoft.com/office/drawing/2014/main" id="{D2FCA2EB-B0E4-7829-B8C4-0D34795E25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43312" y="3294063"/>
                <a:ext cx="3669262" cy="439269"/>
              </a:xfrm>
              <a:prstGeom prst="roundRect">
                <a:avLst/>
              </a:prstGeom>
              <a:solidFill>
                <a:srgbClr val="7C7E7E"/>
              </a:solidFill>
              <a:ln w="12700" cap="flat" cmpd="sng" algn="ctr">
                <a:noFill/>
                <a:prstDash val="solid"/>
                <a:miter lim="800000"/>
              </a:ln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n-US" sz="2400" b="1" kern="1200" dirty="0">
                    <a:solidFill>
                      <a:srgbClr val="FFFF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GB" sz="2200" b="0" dirty="0">
                    <a:solidFill>
                      <a:srgbClr val="FFFFFF"/>
                    </a:solidFill>
                    <a:latin typeface="+mn-lt"/>
                  </a:rPr>
                  <a:t>B.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2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1,9</m:t>
                        </m:r>
                      </m:e>
                    </m:d>
                  </m:oMath>
                </a14:m>
                <a:endParaRPr lang="en-GB" sz="2200" dirty="0">
                  <a:solidFill>
                    <a:srgbClr val="FFFFFF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5" name="Title 3">
                <a:extLst>
                  <a:ext uri="{FF2B5EF4-FFF2-40B4-BE49-F238E27FC236}">
                    <a16:creationId xmlns:a16="http://schemas.microsoft.com/office/drawing/2014/main" id="{D2FCA2EB-B0E4-7829-B8C4-0D34795E2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312" y="3294063"/>
                <a:ext cx="3669262" cy="439269"/>
              </a:xfrm>
              <a:prstGeom prst="roundRect">
                <a:avLst/>
              </a:prstGeom>
              <a:blipFill>
                <a:blip r:embed="rId4"/>
                <a:stretch>
                  <a:fillRect l="-1153" t="-7792" b="-1818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3">
                <a:extLst>
                  <a:ext uri="{FF2B5EF4-FFF2-40B4-BE49-F238E27FC236}">
                    <a16:creationId xmlns:a16="http://schemas.microsoft.com/office/drawing/2014/main" id="{6229E65E-AA1A-DC3B-C404-31F0F9CF9F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79312" y="4288243"/>
                <a:ext cx="3669262" cy="439269"/>
              </a:xfrm>
              <a:prstGeom prst="roundRect">
                <a:avLst/>
              </a:prstGeom>
              <a:solidFill>
                <a:srgbClr val="7C7E7E"/>
              </a:solidFill>
              <a:ln w="12700" cap="flat" cmpd="sng" algn="ctr">
                <a:noFill/>
                <a:prstDash val="solid"/>
                <a:miter lim="800000"/>
              </a:ln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n-US" sz="2400" b="1" kern="1200" dirty="0">
                    <a:solidFill>
                      <a:srgbClr val="FFFF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GB" sz="2200" b="0" dirty="0">
                    <a:solidFill>
                      <a:srgbClr val="FFFFFF"/>
                    </a:solidFill>
                    <a:latin typeface="+mn-lt"/>
                  </a:rPr>
                  <a:t>C.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2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endParaRPr lang="en-GB" sz="2200" dirty="0">
                  <a:solidFill>
                    <a:srgbClr val="FFFFFF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6" name="Title 3">
                <a:extLst>
                  <a:ext uri="{FF2B5EF4-FFF2-40B4-BE49-F238E27FC236}">
                    <a16:creationId xmlns:a16="http://schemas.microsoft.com/office/drawing/2014/main" id="{6229E65E-AA1A-DC3B-C404-31F0F9CF9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312" y="4288243"/>
                <a:ext cx="3669262" cy="439269"/>
              </a:xfrm>
              <a:prstGeom prst="roundRect">
                <a:avLst/>
              </a:prstGeom>
              <a:blipFill>
                <a:blip r:embed="rId5"/>
                <a:stretch>
                  <a:fillRect l="-1153" t="-7792" b="-1818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3">
                <a:extLst>
                  <a:ext uri="{FF2B5EF4-FFF2-40B4-BE49-F238E27FC236}">
                    <a16:creationId xmlns:a16="http://schemas.microsoft.com/office/drawing/2014/main" id="{4B097005-34B0-B6DD-5F19-7B885DD79E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43312" y="4288243"/>
                <a:ext cx="3669262" cy="439269"/>
              </a:xfrm>
              <a:prstGeom prst="roundRect">
                <a:avLst/>
              </a:prstGeom>
              <a:solidFill>
                <a:srgbClr val="7C7E7E"/>
              </a:solidFill>
              <a:ln w="12700" cap="flat" cmpd="sng" algn="ctr">
                <a:noFill/>
                <a:prstDash val="solid"/>
                <a:miter lim="800000"/>
              </a:ln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n-US" sz="2400" b="1" kern="1200" dirty="0">
                    <a:solidFill>
                      <a:srgbClr val="FFFF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GB" sz="2200" b="0" dirty="0">
                    <a:solidFill>
                      <a:srgbClr val="FFFFFF"/>
                    </a:solidFill>
                    <a:latin typeface="+mn-lt"/>
                  </a:rPr>
                  <a:t>D.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2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0,3</m:t>
                        </m:r>
                      </m:e>
                    </m:d>
                  </m:oMath>
                </a14:m>
                <a:endParaRPr lang="en-GB" sz="2200" dirty="0">
                  <a:solidFill>
                    <a:srgbClr val="FFFFFF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7" name="Title 3">
                <a:extLst>
                  <a:ext uri="{FF2B5EF4-FFF2-40B4-BE49-F238E27FC236}">
                    <a16:creationId xmlns:a16="http://schemas.microsoft.com/office/drawing/2014/main" id="{4B097005-34B0-B6DD-5F19-7B885DD79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312" y="4288243"/>
                <a:ext cx="3669262" cy="439269"/>
              </a:xfrm>
              <a:prstGeom prst="roundRect">
                <a:avLst/>
              </a:prstGeom>
              <a:blipFill>
                <a:blip r:embed="rId6"/>
                <a:stretch>
                  <a:fillRect l="-1153" t="-7792" b="-18182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3">
            <a:extLst>
              <a:ext uri="{FF2B5EF4-FFF2-40B4-BE49-F238E27FC236}">
                <a16:creationId xmlns:a16="http://schemas.microsoft.com/office/drawing/2014/main" id="{F3503149-CA22-41A5-09E9-A0954585F1DC}"/>
              </a:ext>
            </a:extLst>
          </p:cNvPr>
          <p:cNvSpPr txBox="1">
            <a:spLocks/>
          </p:cNvSpPr>
          <p:nvPr/>
        </p:nvSpPr>
        <p:spPr>
          <a:xfrm>
            <a:off x="10950525" y="2875901"/>
            <a:ext cx="744260" cy="28603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Verdana"/>
                <a:ea typeface="Verdana"/>
              </a:rPr>
              <a:t>NSEJS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703129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0F469-83A0-6B06-5824-0338F7FA3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B12FEE8A-47DF-6110-DED5-EB0F489B8BA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979311" y="2024063"/>
                <a:ext cx="7733263" cy="776383"/>
              </a:xfr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pPr algn="l"/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The  graph of the equation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𝑦</m:t>
                    </m:r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=2</m:t>
                    </m:r>
                    <m:sSup>
                      <m:sSupPr>
                        <m:ctrlP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</m:ctrlPr>
                      </m:sSupPr>
                      <m:e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𝑥</m:t>
                        </m:r>
                      </m:e>
                      <m:sup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2</m:t>
                        </m:r>
                      </m:sup>
                    </m:sSup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+4</m:t>
                    </m:r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𝑥</m:t>
                    </m:r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+3</m:t>
                    </m:r>
                  </m:oMath>
                </a14:m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 has its lowest point at:</a:t>
                </a:r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B12FEE8A-47DF-6110-DED5-EB0F489B8B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979311" y="2024063"/>
                <a:ext cx="7733263" cy="776383"/>
              </a:xfrm>
              <a:blipFill>
                <a:blip r:embed="rId2"/>
                <a:stretch>
                  <a:fillRect l="-314" t="-3030" r="-628" b="-8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3">
            <a:extLst>
              <a:ext uri="{FF2B5EF4-FFF2-40B4-BE49-F238E27FC236}">
                <a16:creationId xmlns:a16="http://schemas.microsoft.com/office/drawing/2014/main" id="{8E7B7388-9470-FE28-8A26-39C13F796F42}"/>
              </a:ext>
            </a:extLst>
          </p:cNvPr>
          <p:cNvSpPr txBox="1">
            <a:spLocks/>
          </p:cNvSpPr>
          <p:nvPr/>
        </p:nvSpPr>
        <p:spPr>
          <a:xfrm>
            <a:off x="6906621" y="1160463"/>
            <a:ext cx="1871267" cy="46991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Verdana"/>
                <a:ea typeface="Verdana"/>
              </a:rPr>
              <a:t>Question </a:t>
            </a:r>
            <a:endParaRPr lang="en-US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0FB3E17F-D644-862C-BAF1-A791E5C5B865}"/>
              </a:ext>
            </a:extLst>
          </p:cNvPr>
          <p:cNvSpPr txBox="1">
            <a:spLocks/>
          </p:cNvSpPr>
          <p:nvPr/>
        </p:nvSpPr>
        <p:spPr>
          <a:xfrm>
            <a:off x="10950525" y="2875901"/>
            <a:ext cx="744260" cy="28603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Verdana"/>
                <a:ea typeface="Verdana"/>
              </a:rPr>
              <a:t>NSEJS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356654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80C01-1044-293A-7A75-20531BDD0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0FF6AF00-8D2E-15D2-561D-4D2E078BEBC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979311" y="2024063"/>
                <a:ext cx="7733263" cy="1121158"/>
              </a:xfr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pPr algn="l"/>
                <a:r>
                  <a:rPr lang="en-GB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Two distinct polynomials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𝑓</m:t>
                    </m:r>
                    <m:d>
                      <m:dPr>
                        <m:ctrlP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</m:ctrlPr>
                      </m:dPr>
                      <m:e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𝑥</m:t>
                        </m:r>
                      </m:e>
                    </m:d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=</m:t>
                    </m:r>
                    <m:sSup>
                      <m:sSupPr>
                        <m:ctrlP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</m:ctrlPr>
                      </m:sSupPr>
                      <m:e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𝑥</m:t>
                        </m:r>
                      </m:e>
                      <m:sup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2</m:t>
                        </m:r>
                      </m:sup>
                    </m:sSup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+</m:t>
                    </m:r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𝑎𝑥</m:t>
                    </m:r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+2</m:t>
                    </m:r>
                  </m:oMath>
                </a14:m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𝑔</m:t>
                    </m:r>
                    <m:d>
                      <m:dPr>
                        <m:ctrlP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</m:ctrlPr>
                      </m:dPr>
                      <m:e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𝑥</m:t>
                        </m:r>
                      </m:e>
                    </m:d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=</m:t>
                    </m:r>
                    <m:sSup>
                      <m:sSupPr>
                        <m:ctrlP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</m:ctrlPr>
                      </m:sSupPr>
                      <m:e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𝑥</m:t>
                        </m:r>
                      </m:e>
                      <m:sup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@</m:t>
                        </m:r>
                      </m:sup>
                    </m:sSup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+2</m:t>
                    </m:r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𝑥</m:t>
                    </m:r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+</m:t>
                    </m:r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𝑎</m:t>
                    </m:r>
                  </m:oMath>
                </a14:m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. If the equations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𝑓</m:t>
                    </m:r>
                    <m:d>
                      <m:dPr>
                        <m:ctrlP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</m:ctrlPr>
                      </m:dPr>
                      <m:e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𝑥</m:t>
                        </m:r>
                      </m:e>
                    </m:d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=0</m:t>
                    </m:r>
                  </m:oMath>
                </a14:m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𝑔</m:t>
                    </m:r>
                    <m:d>
                      <m:dPr>
                        <m:ctrlP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</m:ctrlPr>
                      </m:dPr>
                      <m:e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𝑥</m:t>
                        </m:r>
                      </m:e>
                    </m:d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=0</m:t>
                    </m:r>
                  </m:oMath>
                </a14:m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 have a common root, then sum of the roots of the equation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𝑓</m:t>
                    </m:r>
                    <m:d>
                      <m:dPr>
                        <m:ctrlP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</m:ctrlPr>
                      </m:dPr>
                      <m:e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𝑥</m:t>
                        </m:r>
                      </m:e>
                    </m:d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+</m:t>
                    </m:r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𝑔</m:t>
                    </m:r>
                    <m:d>
                      <m:dPr>
                        <m:ctrlP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</m:ctrlPr>
                      </m:dPr>
                      <m:e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𝑥</m:t>
                        </m:r>
                      </m:e>
                    </m:d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=0</m:t>
                    </m:r>
                  </m:oMath>
                </a14:m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 is</a:t>
                </a:r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0FF6AF00-8D2E-15D2-561D-4D2E078BEB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979311" y="2024063"/>
                <a:ext cx="7733263" cy="1121158"/>
              </a:xfrm>
              <a:blipFill>
                <a:blip r:embed="rId2"/>
                <a:stretch>
                  <a:fillRect l="-78" b="-478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3">
            <a:extLst>
              <a:ext uri="{FF2B5EF4-FFF2-40B4-BE49-F238E27FC236}">
                <a16:creationId xmlns:a16="http://schemas.microsoft.com/office/drawing/2014/main" id="{9E5CE4FE-332B-F484-83F0-19F1011BFD3E}"/>
              </a:ext>
            </a:extLst>
          </p:cNvPr>
          <p:cNvSpPr txBox="1">
            <a:spLocks/>
          </p:cNvSpPr>
          <p:nvPr/>
        </p:nvSpPr>
        <p:spPr>
          <a:xfrm>
            <a:off x="6906621" y="1160463"/>
            <a:ext cx="1871267" cy="46991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Verdana"/>
                <a:ea typeface="Verdana"/>
              </a:rPr>
              <a:t>Question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3">
                <a:extLst>
                  <a:ext uri="{FF2B5EF4-FFF2-40B4-BE49-F238E27FC236}">
                    <a16:creationId xmlns:a16="http://schemas.microsoft.com/office/drawing/2014/main" id="{03DE89DD-6603-51FD-52AC-E230F95D24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79312" y="4144665"/>
                <a:ext cx="3669262" cy="591368"/>
              </a:xfrm>
              <a:prstGeom prst="roundRect">
                <a:avLst/>
              </a:prstGeom>
              <a:solidFill>
                <a:srgbClr val="7C7E7E"/>
              </a:solidFill>
              <a:ln w="12700" cap="flat" cmpd="sng" algn="ctr">
                <a:noFill/>
                <a:prstDash val="solid"/>
                <a:miter lim="800000"/>
              </a:ln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n-US" sz="2400" b="1" kern="1200" dirty="0">
                    <a:solidFill>
                      <a:srgbClr val="FFFF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GB" sz="2200" b="0" dirty="0">
                    <a:solidFill>
                      <a:srgbClr val="FFFFFF"/>
                    </a:solidFill>
                    <a:latin typeface="+mn-lt"/>
                  </a:rPr>
                  <a:t>A. </a:t>
                </a:r>
                <a14:m>
                  <m:oMath xmlns:m="http://schemas.openxmlformats.org/officeDocument/2006/math">
                    <m:r>
                      <a:rPr lang="en-GB" sz="22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22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2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2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sz="2200" dirty="0">
                  <a:solidFill>
                    <a:srgbClr val="FFFFFF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" name="Title 3">
                <a:extLst>
                  <a:ext uri="{FF2B5EF4-FFF2-40B4-BE49-F238E27FC236}">
                    <a16:creationId xmlns:a16="http://schemas.microsoft.com/office/drawing/2014/main" id="{03DE89DD-6603-51FD-52AC-E230F95D2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312" y="4144665"/>
                <a:ext cx="3669262" cy="591368"/>
              </a:xfrm>
              <a:prstGeom prst="roundRect">
                <a:avLst/>
              </a:prstGeom>
              <a:blipFill>
                <a:blip r:embed="rId3"/>
                <a:stretch>
                  <a:fillRect l="-824" b="-196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3">
                <a:extLst>
                  <a:ext uri="{FF2B5EF4-FFF2-40B4-BE49-F238E27FC236}">
                    <a16:creationId xmlns:a16="http://schemas.microsoft.com/office/drawing/2014/main" id="{CD09B6B5-B15A-9526-75BA-265AF0776C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43312" y="4144665"/>
                <a:ext cx="3669262" cy="439269"/>
              </a:xfrm>
              <a:prstGeom prst="roundRect">
                <a:avLst/>
              </a:prstGeom>
              <a:solidFill>
                <a:srgbClr val="7C7E7E"/>
              </a:solidFill>
              <a:ln w="12700" cap="flat" cmpd="sng" algn="ctr">
                <a:noFill/>
                <a:prstDash val="solid"/>
                <a:miter lim="800000"/>
              </a:ln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n-US" sz="2400" b="1" kern="1200" dirty="0">
                    <a:solidFill>
                      <a:srgbClr val="FFFF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GB" sz="2200" b="0" dirty="0">
                    <a:solidFill>
                      <a:srgbClr val="FFFFFF"/>
                    </a:solidFill>
                    <a:latin typeface="+mn-lt"/>
                  </a:rPr>
                  <a:t>B. </a:t>
                </a:r>
                <a14:m>
                  <m:oMath xmlns:m="http://schemas.openxmlformats.org/officeDocument/2006/math">
                    <m:r>
                      <a:rPr lang="en-GB" sz="22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2200" dirty="0">
                  <a:solidFill>
                    <a:srgbClr val="FFFFFF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5" name="Title 3">
                <a:extLst>
                  <a:ext uri="{FF2B5EF4-FFF2-40B4-BE49-F238E27FC236}">
                    <a16:creationId xmlns:a16="http://schemas.microsoft.com/office/drawing/2014/main" id="{CD09B6B5-B15A-9526-75BA-265AF0776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312" y="4144665"/>
                <a:ext cx="3669262" cy="439269"/>
              </a:xfrm>
              <a:prstGeom prst="roundRect">
                <a:avLst/>
              </a:prstGeom>
              <a:blipFill>
                <a:blip r:embed="rId4"/>
                <a:stretch>
                  <a:fillRect l="-1153" t="-6494" b="-1948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3">
                <a:extLst>
                  <a:ext uri="{FF2B5EF4-FFF2-40B4-BE49-F238E27FC236}">
                    <a16:creationId xmlns:a16="http://schemas.microsoft.com/office/drawing/2014/main" id="{48C40632-7695-C064-69E6-FE19F507EB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79312" y="5138845"/>
                <a:ext cx="3669262" cy="591368"/>
              </a:xfrm>
              <a:prstGeom prst="roundRect">
                <a:avLst/>
              </a:prstGeom>
              <a:solidFill>
                <a:srgbClr val="7C7E7E"/>
              </a:solidFill>
              <a:ln w="12700" cap="flat" cmpd="sng" algn="ctr">
                <a:noFill/>
                <a:prstDash val="solid"/>
                <a:miter lim="800000"/>
              </a:ln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n-US" sz="2400" b="1" kern="1200" dirty="0">
                    <a:solidFill>
                      <a:srgbClr val="FFFF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GB" sz="2200" b="0" dirty="0">
                    <a:solidFill>
                      <a:srgbClr val="FFFFFF"/>
                    </a:solidFill>
                    <a:latin typeface="+mn-lt"/>
                  </a:rPr>
                  <a:t>C.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2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2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2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sz="2200" dirty="0">
                  <a:solidFill>
                    <a:srgbClr val="FFFFFF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6" name="Title 3">
                <a:extLst>
                  <a:ext uri="{FF2B5EF4-FFF2-40B4-BE49-F238E27FC236}">
                    <a16:creationId xmlns:a16="http://schemas.microsoft.com/office/drawing/2014/main" id="{48C40632-7695-C064-69E6-FE19F507E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312" y="5138845"/>
                <a:ext cx="3669262" cy="591368"/>
              </a:xfrm>
              <a:prstGeom prst="roundRect">
                <a:avLst/>
              </a:prstGeom>
              <a:blipFill>
                <a:blip r:embed="rId5"/>
                <a:stretch>
                  <a:fillRect l="-824" b="-1961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3">
                <a:extLst>
                  <a:ext uri="{FF2B5EF4-FFF2-40B4-BE49-F238E27FC236}">
                    <a16:creationId xmlns:a16="http://schemas.microsoft.com/office/drawing/2014/main" id="{AFE38DD2-0521-5197-6956-5763B14575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43312" y="5138845"/>
                <a:ext cx="3669262" cy="439269"/>
              </a:xfrm>
              <a:prstGeom prst="roundRect">
                <a:avLst/>
              </a:prstGeom>
              <a:solidFill>
                <a:srgbClr val="7C7E7E"/>
              </a:solidFill>
              <a:ln w="12700" cap="flat" cmpd="sng" algn="ctr">
                <a:noFill/>
                <a:prstDash val="solid"/>
                <a:miter lim="800000"/>
              </a:ln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n-US" sz="2400" b="1" kern="1200" dirty="0">
                    <a:solidFill>
                      <a:srgbClr val="FFFF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GB" sz="2200" b="0" dirty="0">
                    <a:solidFill>
                      <a:srgbClr val="FFFFFF"/>
                    </a:solidFill>
                    <a:latin typeface="+mn-lt"/>
                  </a:rPr>
                  <a:t>D. </a:t>
                </a:r>
                <a14:m>
                  <m:oMath xmlns:m="http://schemas.openxmlformats.org/officeDocument/2006/math">
                    <m:r>
                      <a:rPr lang="en-GB" sz="22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sz="2200" dirty="0">
                  <a:solidFill>
                    <a:srgbClr val="FFFFFF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7" name="Title 3">
                <a:extLst>
                  <a:ext uri="{FF2B5EF4-FFF2-40B4-BE49-F238E27FC236}">
                    <a16:creationId xmlns:a16="http://schemas.microsoft.com/office/drawing/2014/main" id="{AFE38DD2-0521-5197-6956-5763B1457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312" y="5138845"/>
                <a:ext cx="3669262" cy="439269"/>
              </a:xfrm>
              <a:prstGeom prst="roundRect">
                <a:avLst/>
              </a:prstGeom>
              <a:blipFill>
                <a:blip r:embed="rId6"/>
                <a:stretch>
                  <a:fillRect l="-1153" t="-6410" b="-17949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3">
            <a:extLst>
              <a:ext uri="{FF2B5EF4-FFF2-40B4-BE49-F238E27FC236}">
                <a16:creationId xmlns:a16="http://schemas.microsoft.com/office/drawing/2014/main" id="{B57D2FB1-A7E0-BC34-D0A8-2F463589890E}"/>
              </a:ext>
            </a:extLst>
          </p:cNvPr>
          <p:cNvSpPr txBox="1">
            <a:spLocks/>
          </p:cNvSpPr>
          <p:nvPr/>
        </p:nvSpPr>
        <p:spPr>
          <a:xfrm>
            <a:off x="10986988" y="3258673"/>
            <a:ext cx="671335" cy="28603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Verdana"/>
                <a:ea typeface="Verdana"/>
              </a:rPr>
              <a:t>KVPY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974527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25F3E-382E-3C8C-5086-C3BE11E1F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895E527E-99D8-CBFA-F105-15D7FEE3F2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979311" y="2024063"/>
                <a:ext cx="7733263" cy="1121158"/>
              </a:xfr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pPr algn="l"/>
                <a:r>
                  <a:rPr lang="en-GB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Two distinct polynomials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𝑓</m:t>
                    </m:r>
                    <m:d>
                      <m:dPr>
                        <m:ctrlP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</m:ctrlPr>
                      </m:dPr>
                      <m:e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𝑥</m:t>
                        </m:r>
                      </m:e>
                    </m:d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=</m:t>
                    </m:r>
                    <m:sSup>
                      <m:sSupPr>
                        <m:ctrlP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</m:ctrlPr>
                      </m:sSupPr>
                      <m:e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𝑥</m:t>
                        </m:r>
                      </m:e>
                      <m:sup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2</m:t>
                        </m:r>
                      </m:sup>
                    </m:sSup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+</m:t>
                    </m:r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𝑎𝑥</m:t>
                    </m:r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+2</m:t>
                    </m:r>
                  </m:oMath>
                </a14:m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𝑔</m:t>
                    </m:r>
                    <m:d>
                      <m:dPr>
                        <m:ctrlP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</m:ctrlPr>
                      </m:dPr>
                      <m:e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𝑥</m:t>
                        </m:r>
                      </m:e>
                    </m:d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=</m:t>
                    </m:r>
                    <m:sSup>
                      <m:sSupPr>
                        <m:ctrlP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</m:ctrlPr>
                      </m:sSupPr>
                      <m:e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𝑥</m:t>
                        </m:r>
                      </m:e>
                      <m:sup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@</m:t>
                        </m:r>
                      </m:sup>
                    </m:sSup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+2</m:t>
                    </m:r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𝑥</m:t>
                    </m:r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+</m:t>
                    </m:r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𝑎</m:t>
                    </m:r>
                  </m:oMath>
                </a14:m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. If the equations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𝑓</m:t>
                    </m:r>
                    <m:d>
                      <m:dPr>
                        <m:ctrlP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</m:ctrlPr>
                      </m:dPr>
                      <m:e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𝑥</m:t>
                        </m:r>
                      </m:e>
                    </m:d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=0</m:t>
                    </m:r>
                  </m:oMath>
                </a14:m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𝑔</m:t>
                    </m:r>
                    <m:d>
                      <m:dPr>
                        <m:ctrlP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</m:ctrlPr>
                      </m:dPr>
                      <m:e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𝑥</m:t>
                        </m:r>
                      </m:e>
                    </m:d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=0</m:t>
                    </m:r>
                  </m:oMath>
                </a14:m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 have a common root, then sum of the roots of the equation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𝑓</m:t>
                    </m:r>
                    <m:d>
                      <m:dPr>
                        <m:ctrlP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</m:ctrlPr>
                      </m:dPr>
                      <m:e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𝑥</m:t>
                        </m:r>
                      </m:e>
                    </m:d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+</m:t>
                    </m:r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𝑔</m:t>
                    </m:r>
                    <m:d>
                      <m:dPr>
                        <m:ctrlP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</m:ctrlPr>
                      </m:dPr>
                      <m:e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𝑥</m:t>
                        </m:r>
                      </m:e>
                    </m:d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=0</m:t>
                    </m:r>
                  </m:oMath>
                </a14:m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 is</a:t>
                </a:r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895E527E-99D8-CBFA-F105-15D7FEE3F2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979311" y="2024063"/>
                <a:ext cx="7733263" cy="1121158"/>
              </a:xfrm>
              <a:blipFill>
                <a:blip r:embed="rId2"/>
                <a:stretch>
                  <a:fillRect l="-78" b="-478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3">
            <a:extLst>
              <a:ext uri="{FF2B5EF4-FFF2-40B4-BE49-F238E27FC236}">
                <a16:creationId xmlns:a16="http://schemas.microsoft.com/office/drawing/2014/main" id="{B46A2C74-BB3C-67DB-4BBA-E532864B113A}"/>
              </a:ext>
            </a:extLst>
          </p:cNvPr>
          <p:cNvSpPr txBox="1">
            <a:spLocks/>
          </p:cNvSpPr>
          <p:nvPr/>
        </p:nvSpPr>
        <p:spPr>
          <a:xfrm>
            <a:off x="6906621" y="1160463"/>
            <a:ext cx="1871267" cy="46991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Verdana"/>
                <a:ea typeface="Verdana"/>
              </a:rPr>
              <a:t>Question </a:t>
            </a:r>
            <a:endParaRPr lang="en-US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8778308A-A1D2-9FB2-A782-DFCB943D918E}"/>
              </a:ext>
            </a:extLst>
          </p:cNvPr>
          <p:cNvSpPr txBox="1">
            <a:spLocks/>
          </p:cNvSpPr>
          <p:nvPr/>
        </p:nvSpPr>
        <p:spPr>
          <a:xfrm>
            <a:off x="10986988" y="3258673"/>
            <a:ext cx="671335" cy="28603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Verdana"/>
                <a:ea typeface="Verdana"/>
              </a:rPr>
              <a:t>KVPY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092720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372E2-F328-3698-021E-A961334B0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8B75E389-BD0E-2088-7C5A-31242D6696E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979311" y="2024063"/>
                <a:ext cx="7733263" cy="1113496"/>
              </a:xfrm>
              <a:solidFill>
                <a:srgbClr val="7C7E7E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pPr algn="l"/>
                <a:r>
                  <a:rPr lang="en-GB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The equations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</m:ctrlPr>
                      </m:sSupPr>
                      <m:e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𝑥</m:t>
                        </m:r>
                      </m:e>
                      <m:sup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2</m:t>
                        </m:r>
                      </m:sup>
                    </m:sSup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−4</m:t>
                    </m:r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𝑥</m:t>
                    </m:r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+</m:t>
                    </m:r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𝑘</m:t>
                    </m:r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=0</m:t>
                    </m:r>
                  </m:oMath>
                </a14:m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</m:ctrlPr>
                      </m:sSupPr>
                      <m:e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𝑥</m:t>
                        </m:r>
                      </m:e>
                      <m:sup>
                        <m:r>
                          <a:rPr lang="en-GB" sz="22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Verdana"/>
                          </a:rPr>
                          <m:t>2</m:t>
                        </m:r>
                      </m:sup>
                    </m:sSup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+</m:t>
                    </m:r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𝑘𝑥</m:t>
                    </m:r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−4=0</m:t>
                    </m:r>
                  </m:oMath>
                </a14:m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, where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𝑘</m:t>
                    </m:r>
                  </m:oMath>
                </a14:m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 is a real number, have exactly one common root. What is the value of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Verdana"/>
                      </a:rPr>
                      <m:t>𝑘</m:t>
                    </m:r>
                  </m:oMath>
                </a14:m>
                <a:r>
                  <a:rPr lang="en-US" sz="2200" b="0" dirty="0">
                    <a:solidFill>
                      <a:srgbClr val="FFFFFF"/>
                    </a:solidFill>
                    <a:latin typeface="+mn-lt"/>
                    <a:ea typeface="Verdana"/>
                  </a:rPr>
                  <a:t>? </a:t>
                </a:r>
              </a:p>
            </p:txBody>
          </p:sp>
        </mc:Choice>
        <mc:Fallback xmlns="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8B75E389-BD0E-2088-7C5A-31242D6696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979311" y="2024063"/>
                <a:ext cx="7733263" cy="1113496"/>
              </a:xfrm>
              <a:blipFill>
                <a:blip r:embed="rId2"/>
                <a:stretch>
                  <a:fillRect l="-78" t="-535" r="-785" b="-427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3">
            <a:extLst>
              <a:ext uri="{FF2B5EF4-FFF2-40B4-BE49-F238E27FC236}">
                <a16:creationId xmlns:a16="http://schemas.microsoft.com/office/drawing/2014/main" id="{B5D39C1C-60FA-5353-1A2A-18E8E5855140}"/>
              </a:ext>
            </a:extLst>
          </p:cNvPr>
          <p:cNvSpPr txBox="1">
            <a:spLocks/>
          </p:cNvSpPr>
          <p:nvPr/>
        </p:nvSpPr>
        <p:spPr>
          <a:xfrm>
            <a:off x="6906621" y="1160463"/>
            <a:ext cx="1871267" cy="46991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Verdana"/>
                <a:ea typeface="Verdana"/>
              </a:rPr>
              <a:t>Question </a:t>
            </a:r>
            <a:endParaRPr lang="en-US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62E1FA34-E75E-8A6C-81F2-160F0767FE99}"/>
              </a:ext>
            </a:extLst>
          </p:cNvPr>
          <p:cNvSpPr txBox="1">
            <a:spLocks/>
          </p:cNvSpPr>
          <p:nvPr/>
        </p:nvSpPr>
        <p:spPr>
          <a:xfrm>
            <a:off x="10815950" y="3258673"/>
            <a:ext cx="1013413" cy="286036"/>
          </a:xfrm>
          <a:prstGeom prst="roundRect">
            <a:avLst/>
          </a:prstGeom>
          <a:solidFill>
            <a:srgbClr val="7C7E7E"/>
          </a:solidFill>
          <a:ln w="12700" cap="flat" cmpd="sng" algn="ctr">
            <a:noFill/>
            <a:prstDash val="solid"/>
            <a:miter lim="800000"/>
          </a:ln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1" kern="1200" dirty="0">
                <a:solidFill>
                  <a:srgbClr val="FFFF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Verdana"/>
                <a:ea typeface="Verdana"/>
              </a:rPr>
              <a:t>PRE-RMO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935340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84932-DC19-BBC6-DFB4-7514EED8F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9045A856-BC70-7AEA-06E0-DF1C8AF64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925" y="1160463"/>
            <a:ext cx="7722575" cy="469916"/>
          </a:xfrm>
          <a:solidFill>
            <a:srgbClr val="7C7E7E"/>
          </a:solidFill>
        </p:spPr>
        <p:txBody>
          <a:bodyPr/>
          <a:lstStyle/>
          <a:p>
            <a:pPr algn="ctr"/>
            <a:r>
              <a:rPr lang="en-IN" dirty="0"/>
              <a:t>Contents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12">
                <a:extLst>
                  <a:ext uri="{FF2B5EF4-FFF2-40B4-BE49-F238E27FC236}">
                    <a16:creationId xmlns:a16="http://schemas.microsoft.com/office/drawing/2014/main" id="{8B4E0971-8D1D-A043-10CC-3FD7CB709069}"/>
                  </a:ext>
                </a:extLst>
              </p:cNvPr>
              <p:cNvSpPr/>
              <p:nvPr/>
            </p:nvSpPr>
            <p:spPr>
              <a:xfrm>
                <a:off x="3971926" y="2121789"/>
                <a:ext cx="7722000" cy="4230749"/>
              </a:xfrm>
              <a:prstGeom prst="roundRect">
                <a:avLst>
                  <a:gd name="adj" fmla="val 11906"/>
                </a:avLst>
              </a:prstGeom>
              <a:solidFill>
                <a:srgbClr val="7C7E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200" dirty="0"/>
                  <a:t>Roots using Graphs can be located at the points where the graph cuts/touches the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𝑎𝑥𝑖𝑠</m:t>
                    </m:r>
                  </m:oMath>
                </a14:m>
                <a:endParaRPr lang="en-US" sz="2200" dirty="0"/>
              </a:p>
              <a:p>
                <a:pPr marL="342900" indent="-342900">
                  <a:buFont typeface="Wingdings" panose="05000000000000000000" pitchFamily="2" charset="2"/>
                  <a:buChar char="q"/>
                </a:pPr>
                <a:endParaRPr lang="en-US" sz="2200" dirty="0"/>
              </a:p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200" dirty="0"/>
                  <a:t>Maximum Value is when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200" dirty="0"/>
                  <a:t>, at the point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n-US" sz="2200" dirty="0"/>
              </a:p>
              <a:p>
                <a:pPr marL="342900" indent="-342900">
                  <a:buFont typeface="Wingdings" panose="05000000000000000000" pitchFamily="2" charset="2"/>
                  <a:buChar char="q"/>
                </a:pPr>
                <a:endParaRPr lang="en-US" sz="2200" dirty="0"/>
              </a:p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200" dirty="0"/>
                  <a:t>Minimum Value is when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200" dirty="0"/>
                  <a:t>, at the point </a:t>
                </a:r>
                <a14:m>
                  <m:oMath xmlns:m="http://schemas.openxmlformats.org/officeDocument/2006/math">
                    <m:r>
                      <a:rPr lang="en-GB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2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n-US" sz="2200" dirty="0"/>
              </a:p>
              <a:p>
                <a:endParaRPr lang="en-US" sz="2200" dirty="0"/>
              </a:p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200" dirty="0"/>
                  <a:t>Condition for Common Roots</a:t>
                </a:r>
              </a:p>
              <a:p>
                <a:pPr marL="342900" indent="-342900">
                  <a:buFont typeface="Courier New" panose="02070309020205020404" pitchFamily="49" charset="0"/>
                  <a:buChar char="o"/>
                </a:pPr>
                <a:r>
                  <a:rPr lang="en-US" sz="2200" dirty="0"/>
                  <a:t>One common root: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200" i="1">
                                <a:latin typeface="Cambria Math" panose="02040503050406030204" pitchFamily="18" charset="0"/>
                              </a:rPr>
                              <m:t>𝑎𝑟</m:t>
                            </m:r>
                            <m:r>
                              <a:rPr lang="en-GB" sz="2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2200" i="1">
                                <a:latin typeface="Cambria Math" panose="02040503050406030204" pitchFamily="18" charset="0"/>
                              </a:rPr>
                              <m:t>𝑝𝑐</m:t>
                            </m:r>
                          </m:e>
                        </m:d>
                      </m:e>
                      <m:sup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𝑏𝑟</m:t>
                        </m:r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𝑞𝑐</m:t>
                        </m:r>
                      </m:e>
                    </m:d>
                    <m:d>
                      <m:d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𝑎𝑞</m:t>
                        </m:r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𝑝𝑏</m:t>
                        </m:r>
                      </m:e>
                    </m:d>
                  </m:oMath>
                </a14:m>
                <a:endParaRPr lang="en-US" sz="2200" dirty="0"/>
              </a:p>
              <a:p>
                <a:pPr marL="342900" indent="-342900">
                  <a:buFont typeface="Courier New" panose="02070309020205020404" pitchFamily="49" charset="0"/>
                  <a:buChar char="o"/>
                </a:pPr>
                <a:r>
                  <a:rPr lang="en-US" sz="2200" dirty="0"/>
                  <a:t>Two common roots: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GB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a:rPr lang="en-GB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6" name="Rounded Rectangle 12">
                <a:extLst>
                  <a:ext uri="{FF2B5EF4-FFF2-40B4-BE49-F238E27FC236}">
                    <a16:creationId xmlns:a16="http://schemas.microsoft.com/office/drawing/2014/main" id="{8B4E0971-8D1D-A043-10CC-3FD7CB7090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926" y="2121789"/>
                <a:ext cx="7722000" cy="4230749"/>
              </a:xfrm>
              <a:prstGeom prst="roundRect">
                <a:avLst>
                  <a:gd name="adj" fmla="val 11906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9307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477E905-F5E1-65B9-39A6-7F2064075BA5}"/>
              </a:ext>
            </a:extLst>
          </p:cNvPr>
          <p:cNvSpPr/>
          <p:nvPr/>
        </p:nvSpPr>
        <p:spPr>
          <a:xfrm>
            <a:off x="4684711" y="2708728"/>
            <a:ext cx="6487886" cy="1440544"/>
          </a:xfrm>
          <a:prstGeom prst="roundRect">
            <a:avLst/>
          </a:prstGeom>
          <a:solidFill>
            <a:srgbClr val="7C7E7E"/>
          </a:solidFill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7313859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a5bf7e-fd5e-4d40-a7e7-4f444d2b6373">
      <Terms xmlns="http://schemas.microsoft.com/office/infopath/2007/PartnerControls"/>
    </lcf76f155ced4ddcb4097134ff3c332f>
    <TaxCatchAll xmlns="f9f5d973-96aa-455a-88fe-225cbf48d2e3" xsi:nil="true"/>
    <count xmlns="14a5bf7e-fd5e-4d40-a7e7-4f444d2b6373" xsi:nil="true"/>
    <NEET12_ENGLISH xmlns="14a5bf7e-fd5e-4d40-a7e7-4f444d2b6373" xsi:nil="true"/>
    <SharedWithUsers xmlns="f9f5d973-96aa-455a-88fe-225cbf48d2e3">
      <UserInfo>
        <DisplayName/>
        <AccountId xsi:nil="true"/>
        <AccountType/>
      </UserInfo>
    </SharedWithUsers>
    <MediaLengthInSeconds xmlns="14a5bf7e-fd5e-4d40-a7e7-4f444d2b6373" xsi:nil="true"/>
    <size xmlns="14a5bf7e-fd5e-4d40-a7e7-4f444d2b637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3A621852AFE94CB228CB08D8CA93F3" ma:contentTypeVersion="22" ma:contentTypeDescription="Create a new document." ma:contentTypeScope="" ma:versionID="8344f567824564da5bb94ee9b98b5dd4">
  <xsd:schema xmlns:xsd="http://www.w3.org/2001/XMLSchema" xmlns:xs="http://www.w3.org/2001/XMLSchema" xmlns:p="http://schemas.microsoft.com/office/2006/metadata/properties" xmlns:ns2="f9f5d973-96aa-455a-88fe-225cbf48d2e3" xmlns:ns3="14a5bf7e-fd5e-4d40-a7e7-4f444d2b6373" targetNamespace="http://schemas.microsoft.com/office/2006/metadata/properties" ma:root="true" ma:fieldsID="3a18a73c91d9d6c688857359b7fc9313" ns2:_="" ns3:_="">
    <xsd:import namespace="f9f5d973-96aa-455a-88fe-225cbf48d2e3"/>
    <xsd:import namespace="14a5bf7e-fd5e-4d40-a7e7-4f444d2b637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LengthInSeconds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count" minOccurs="0"/>
                <xsd:element ref="ns3:NEET12_ENGLISH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3:siz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f5d973-96aa-455a-88fe-225cbf48d2e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6d8938a-6e1d-415c-9d6f-b3cc537a7e4e}" ma:internalName="TaxCatchAll" ma:showField="CatchAllData" ma:web="f9f5d973-96aa-455a-88fe-225cbf48d2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a5bf7e-fd5e-4d40-a7e7-4f444d2b63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2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count" ma:index="21" nillable="true" ma:displayName="count" ma:format="Dropdown" ma:internalName="count" ma:percentage="FALSE">
      <xsd:simpleType>
        <xsd:restriction base="dms:Number"/>
      </xsd:simpleType>
    </xsd:element>
    <xsd:element name="NEET12_ENGLISH" ma:index="22" nillable="true" ma:displayName="NEET 12_ENGLISH" ma:format="Dropdown" ma:internalName="NEET12_ENGLISH">
      <xsd:simpleType>
        <xsd:restriction base="dms:Text">
          <xsd:maxLength value="255"/>
        </xsd:restriction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3291250a-fc0d-4533-aef2-cfccd42a2f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  <xsd:element name="size" ma:index="29" nillable="true" ma:displayName="size" ma:internalName="size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59DF00-8622-4BF9-B291-B01BCCD557CC}">
  <ds:schemaRefs>
    <ds:schemaRef ds:uri="http://www.w3.org/XML/1998/namespace"/>
    <ds:schemaRef ds:uri="http://schemas.microsoft.com/office/2006/metadata/properties"/>
    <ds:schemaRef ds:uri="14a5bf7e-fd5e-4d40-a7e7-4f444d2b6373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f9f5d973-96aa-455a-88fe-225cbf48d2e3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3E7F9BF-E74B-4C2F-8420-9712E4582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f5d973-96aa-455a-88fe-225cbf48d2e3"/>
    <ds:schemaRef ds:uri="14a5bf7e-fd5e-4d40-a7e7-4f444d2b63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02F4C9-5147-4BD4-93EB-765B5B81308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b15af5bb-450b-4983-9abb-8dd316c68623}" enabled="0" method="" siteId="{b15af5bb-450b-4983-9abb-8dd316c6862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1597</Words>
  <Application>Microsoft Office PowerPoint</Application>
  <PresentationFormat>Widescreen</PresentationFormat>
  <Paragraphs>228</Paragraphs>
  <Slides>47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1_Office Theme</vt:lpstr>
      <vt:lpstr>PowerPoint Presentation</vt:lpstr>
      <vt:lpstr>PowerPoint Presentation</vt:lpstr>
      <vt:lpstr>Contents</vt:lpstr>
      <vt:lpstr>Geometrical Representation of  Quadratic Equations</vt:lpstr>
      <vt:lpstr>Geometrical Representation of  Quadratic Equations</vt:lpstr>
      <vt:lpstr>Roots using Graph</vt:lpstr>
      <vt:lpstr>Roots using Graph</vt:lpstr>
      <vt:lpstr>Question</vt:lpstr>
      <vt:lpstr>Graph of a Quadratic Equation</vt:lpstr>
      <vt:lpstr>PowerPoint Presentation</vt:lpstr>
      <vt:lpstr>PowerPoint Presentation</vt:lpstr>
      <vt:lpstr>PowerPoint Presentation</vt:lpstr>
      <vt:lpstr>PowerPoint Presentation</vt:lpstr>
      <vt:lpstr>Maximum Value</vt:lpstr>
      <vt:lpstr>Minimum Value</vt:lpstr>
      <vt:lpstr>Question</vt:lpstr>
      <vt:lpstr>Question</vt:lpstr>
      <vt:lpstr>Condition for Common Roots</vt:lpstr>
      <vt:lpstr>Condition for Common Roots</vt:lpstr>
      <vt:lpstr>Condition for Common Roots</vt:lpstr>
      <vt:lpstr>Condition for Common Roots</vt:lpstr>
      <vt:lpstr>Question</vt:lpstr>
      <vt:lpstr>Question</vt:lpstr>
      <vt:lpstr>Solution</vt:lpstr>
      <vt:lpstr>Question</vt:lpstr>
      <vt:lpstr>Question</vt:lpstr>
      <vt:lpstr>Solution</vt:lpstr>
      <vt:lpstr>Question</vt:lpstr>
      <vt:lpstr>Question</vt:lpstr>
      <vt:lpstr>Solution</vt:lpstr>
      <vt:lpstr>PowerPoint Presentation</vt:lpstr>
      <vt:lpstr>The value of the expression x2 + 2bx + c will be positive for all real x if  :</vt:lpstr>
      <vt:lpstr>The value of the expression x2 + 2bx + c will be positive for all real x if  :</vt:lpstr>
      <vt:lpstr>For the following graphs of y = ax2 + bx + c with a, b, c as real numbers, comment on the sign of      </vt:lpstr>
      <vt:lpstr>For the following graphs of y = ax2 + bx + c with a, b, c as real numbers, comment on the sign of      </vt:lpstr>
      <vt:lpstr>For the following graphs of y = ax2 + bx + c with a, b, c as real numbers, comment on the sign of      </vt:lpstr>
      <vt:lpstr>Question</vt:lpstr>
      <vt:lpstr>Question </vt:lpstr>
      <vt:lpstr>Find the minimum value of 3x2 - 2x + 1</vt:lpstr>
      <vt:lpstr>PowerPoint Presentation</vt:lpstr>
      <vt:lpstr>The  graph of the equation y=2x^2+4x+3 has its lowest point at:</vt:lpstr>
      <vt:lpstr>The  graph of the equation y=2x^2+4x+3 has its lowest point at:</vt:lpstr>
      <vt:lpstr>Two distinct polynomials f(x)=x^2+ax+2 and g(x)=x^@+2x+a. If the equations f(x)=0 and g(x)=0 have a common root, then sum of the roots of the equation f(x)+g(x)=0 is</vt:lpstr>
      <vt:lpstr>Two distinct polynomials f(x)=x^2+ax+2 and g(x)=x^@+2x+a. If the equations f(x)=0 and g(x)=0 have a common root, then sum of the roots of the equation f(x)+g(x)=0 is</vt:lpstr>
      <vt:lpstr>The equations x^2-4x+k=0 and x^2+kx-4=0, where k is a real number, have exactly one common root. What is the value of k? </vt:lpstr>
      <vt:lpstr>Contents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Mirdul Kumar</dc:creator>
  <cp:lastModifiedBy>Piyush Mishra</cp:lastModifiedBy>
  <cp:revision>87</cp:revision>
  <dcterms:created xsi:type="dcterms:W3CDTF">2023-05-16T08:24:21Z</dcterms:created>
  <dcterms:modified xsi:type="dcterms:W3CDTF">2025-08-26T09:42:42Z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0x0101001E3A621852AFE94CB228CB08D8CA93F3</vt:lpwstr>
  </property>
  <property fmtid="{D5CDD505-2E9C-101B-9397-08002B2CF9AE}" pid="3" name="Order">
    <vt:r8>475300</vt:r8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  <property fmtid="{D5CDD505-2E9C-101B-9397-08002B2CF9AE}" pid="7" name="MediaServiceImageTags">
    <vt:lpwstr/>
  </property>
</Properties>
</file>